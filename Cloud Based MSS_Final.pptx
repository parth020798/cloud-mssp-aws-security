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Lst>
  <p:notesMasterIdLst>
    <p:notesMasterId r:id="rId18"/>
  </p:notesMasterIdLst>
  <p:sldIdLst>
    <p:sldId id="1864" r:id="rId5"/>
    <p:sldId id="1846" r:id="rId6"/>
    <p:sldId id="1845" r:id="rId7"/>
    <p:sldId id="1848" r:id="rId8"/>
    <p:sldId id="1868" r:id="rId9"/>
    <p:sldId id="1849" r:id="rId10"/>
    <p:sldId id="1866" r:id="rId11"/>
    <p:sldId id="1869" r:id="rId12"/>
    <p:sldId id="1852" r:id="rId13"/>
    <p:sldId id="1865" r:id="rId14"/>
    <p:sldId id="1870" r:id="rId15"/>
    <p:sldId id="1858" r:id="rId16"/>
    <p:sldId id="1859" r:id="rId1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681"/>
    <a:srgbClr val="243D76"/>
    <a:srgbClr val="377DB7"/>
    <a:srgbClr val="01C2D1"/>
    <a:srgbClr val="FE4387"/>
    <a:srgbClr val="FF2625"/>
    <a:srgbClr val="007788"/>
    <a:srgbClr val="297C2A"/>
    <a:srgbClr val="F69000"/>
    <a:srgbClr val="D6D734"/>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724" autoAdjust="0"/>
  </p:normalViewPr>
  <p:slideViewPr>
    <p:cSldViewPr snapToGrid="0">
      <p:cViewPr varScale="1">
        <p:scale>
          <a:sx n="78" d="100"/>
          <a:sy n="78" d="100"/>
        </p:scale>
        <p:origin x="878" y="62"/>
      </p:cViewPr>
      <p:guideLst>
        <p:guide orient="horz" pos="2160"/>
        <p:guide pos="480"/>
        <p:guide pos="7200"/>
        <p:guide pos="4368"/>
      </p:guideLst>
    </p:cSldViewPr>
  </p:slideViewPr>
  <p:notesTextViewPr>
    <p:cViewPr>
      <p:scale>
        <a:sx n="1" d="1"/>
        <a:sy n="1" d="1"/>
      </p:scale>
      <p:origin x="0" y="0"/>
    </p:cViewPr>
  </p:notesTextViewPr>
  <p:sorterViewPr>
    <p:cViewPr>
      <p:scale>
        <a:sx n="94" d="100"/>
        <a:sy n="94"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th Patel" userId="a755b190772d15b5" providerId="LiveId" clId="{BFA21909-BF6E-44E2-BB26-234C49880202}"/>
    <pc:docChg chg="modSld">
      <pc:chgData name="Parth Patel" userId="a755b190772d15b5" providerId="LiveId" clId="{BFA21909-BF6E-44E2-BB26-234C49880202}" dt="2023-07-19T17:06:39.273" v="0" actId="1036"/>
      <pc:docMkLst>
        <pc:docMk/>
      </pc:docMkLst>
      <pc:sldChg chg="modSp mod">
        <pc:chgData name="Parth Patel" userId="a755b190772d15b5" providerId="LiveId" clId="{BFA21909-BF6E-44E2-BB26-234C49880202}" dt="2023-07-19T17:06:39.273" v="0" actId="1036"/>
        <pc:sldMkLst>
          <pc:docMk/>
          <pc:sldMk cId="4221320064" sldId="1869"/>
        </pc:sldMkLst>
        <pc:picChg chg="mod">
          <ac:chgData name="Parth Patel" userId="a755b190772d15b5" providerId="LiveId" clId="{BFA21909-BF6E-44E2-BB26-234C49880202}" dt="2023-07-19T17:06:39.273" v="0" actId="1036"/>
          <ac:picMkLst>
            <pc:docMk/>
            <pc:sldMk cId="4221320064" sldId="1869"/>
            <ac:picMk id="4" creationId="{725DD5E0-9E21-EBDC-5F56-F2A210D43055}"/>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619203647396439"/>
          <c:y val="6.0172790901137363E-2"/>
          <c:w val="0.5423442421259842"/>
          <c:h val="0.8135163131449118"/>
        </c:manualLayout>
      </c:layout>
      <c:pieChart>
        <c:varyColors val="1"/>
        <c:ser>
          <c:idx val="0"/>
          <c:order val="0"/>
          <c:tx>
            <c:strRef>
              <c:f>Sheet1!$B$1</c:f>
              <c:strCache>
                <c:ptCount val="1"/>
                <c:pt idx="0">
                  <c:v>Sales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15B-4679-9E28-E990CAE2D4BF}"/>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15B-4679-9E28-E990CAE2D4BF}"/>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15B-4679-9E28-E990CAE2D4BF}"/>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C15B-4679-9E28-E990CAE2D4BF}"/>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C15B-4679-9E28-E990CAE2D4BF}"/>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B-C15B-4679-9E28-E990CAE2D4BF}"/>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D-C15B-4679-9E28-E990CAE2D4BF}"/>
              </c:ext>
            </c:extLst>
          </c:dPt>
          <c:dLbls>
            <c:dLbl>
              <c:idx val="4"/>
              <c:delete val="1"/>
              <c:extLst>
                <c:ext xmlns:c15="http://schemas.microsoft.com/office/drawing/2012/chart" uri="{CE6537A1-D6FC-4f65-9D91-7224C49458BB}"/>
                <c:ext xmlns:c16="http://schemas.microsoft.com/office/drawing/2014/chart" uri="{C3380CC4-5D6E-409C-BE32-E72D297353CC}">
                  <c16:uniqueId val="{00000009-C15B-4679-9E28-E990CAE2D4B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HACK</c:v>
                </c:pt>
                <c:pt idx="1">
                  <c:v>INSIDER</c:v>
                </c:pt>
                <c:pt idx="2">
                  <c:v>PHYS</c:v>
                </c:pt>
                <c:pt idx="3">
                  <c:v>PORT</c:v>
                </c:pt>
                <c:pt idx="4">
                  <c:v>STAT</c:v>
                </c:pt>
                <c:pt idx="5">
                  <c:v>UNKN</c:v>
                </c:pt>
                <c:pt idx="6">
                  <c:v>DISK</c:v>
                </c:pt>
              </c:strCache>
            </c:strRef>
          </c:cat>
          <c:val>
            <c:numRef>
              <c:f>Sheet1!$B$2:$B$8</c:f>
              <c:numCache>
                <c:formatCode>General</c:formatCode>
                <c:ptCount val="7"/>
                <c:pt idx="0">
                  <c:v>64.650000000000006</c:v>
                </c:pt>
                <c:pt idx="1">
                  <c:v>0.5</c:v>
                </c:pt>
                <c:pt idx="2">
                  <c:v>14.39</c:v>
                </c:pt>
                <c:pt idx="3">
                  <c:v>9.52</c:v>
                </c:pt>
                <c:pt idx="4">
                  <c:v>4.04</c:v>
                </c:pt>
                <c:pt idx="5">
                  <c:v>1.36</c:v>
                </c:pt>
                <c:pt idx="6">
                  <c:v>5.5</c:v>
                </c:pt>
              </c:numCache>
            </c:numRef>
          </c:val>
          <c:extLst>
            <c:ext xmlns:c16="http://schemas.microsoft.com/office/drawing/2014/chart" uri="{C3380CC4-5D6E-409C-BE32-E72D297353CC}">
              <c16:uniqueId val="{0000000E-C15B-4679-9E28-E990CAE2D4BF}"/>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layout>
        <c:manualLayout>
          <c:xMode val="edge"/>
          <c:yMode val="edge"/>
          <c:x val="3.0362047160783369E-2"/>
          <c:y val="0.90302806537192715"/>
          <c:w val="0.89999986469934357"/>
          <c:h val="7.555828958880139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047595162553981"/>
          <c:y val="5.1293197725284338E-2"/>
          <c:w val="0.55983066626251632"/>
          <c:h val="0.8074294619422574"/>
        </c:manualLayout>
      </c:layout>
      <c:pieChart>
        <c:varyColors val="1"/>
        <c:ser>
          <c:idx val="0"/>
          <c:order val="0"/>
          <c:tx>
            <c:strRef>
              <c:f>Sheet1!$B$1</c:f>
              <c:strCache>
                <c:ptCount val="1"/>
                <c:pt idx="0">
                  <c:v>Column1</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7918-4D0B-B560-DCCC08331432}"/>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7918-4D0B-B560-DCCC08331432}"/>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7918-4D0B-B560-DCCC08331432}"/>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7918-4D0B-B560-DCCC08331432}"/>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7918-4D0B-B560-DCCC08331432}"/>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B-7918-4D0B-B560-DCCC08331432}"/>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D-7918-4D0B-B560-DCCC0833143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HACK</c:v>
                </c:pt>
                <c:pt idx="1">
                  <c:v>INSIDER</c:v>
                </c:pt>
                <c:pt idx="2">
                  <c:v>PHYS</c:v>
                </c:pt>
                <c:pt idx="3">
                  <c:v>PORT</c:v>
                </c:pt>
                <c:pt idx="4">
                  <c:v>STAT</c:v>
                </c:pt>
                <c:pt idx="5">
                  <c:v>UNKN</c:v>
                </c:pt>
                <c:pt idx="6">
                  <c:v>DISK</c:v>
                </c:pt>
              </c:strCache>
            </c:strRef>
          </c:cat>
          <c:val>
            <c:numRef>
              <c:f>Sheet1!$B$2:$B$8</c:f>
              <c:numCache>
                <c:formatCode>General</c:formatCode>
                <c:ptCount val="7"/>
                <c:pt idx="0">
                  <c:v>92.59</c:v>
                </c:pt>
                <c:pt idx="1">
                  <c:v>4</c:v>
                </c:pt>
                <c:pt idx="2">
                  <c:v>2.78</c:v>
                </c:pt>
                <c:pt idx="3">
                  <c:v>3.5</c:v>
                </c:pt>
                <c:pt idx="4">
                  <c:v>6</c:v>
                </c:pt>
                <c:pt idx="5">
                  <c:v>5</c:v>
                </c:pt>
                <c:pt idx="6">
                  <c:v>4.16</c:v>
                </c:pt>
              </c:numCache>
            </c:numRef>
          </c:val>
          <c:extLst>
            <c:ext xmlns:c16="http://schemas.microsoft.com/office/drawing/2014/chart" uri="{C3380CC4-5D6E-409C-BE32-E72D297353CC}">
              <c16:uniqueId val="{0000000E-7918-4D0B-B560-DCCC08331432}"/>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F622F8-1824-4338-8C3C-5529D3BDEF4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dirty="0"/>
          </a:p>
        </p:txBody>
      </p:sp>
      <p:sp>
        <p:nvSpPr>
          <p:cNvPr id="30723" name="Rectangle 3">
            <a:extLst>
              <a:ext uri="{FF2B5EF4-FFF2-40B4-BE49-F238E27FC236}">
                <a16:creationId xmlns:a16="http://schemas.microsoft.com/office/drawing/2014/main" id="{618DDD53-BB38-4118-BC75-9CE27D49C55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dirty="0"/>
          </a:p>
        </p:txBody>
      </p:sp>
      <p:sp>
        <p:nvSpPr>
          <p:cNvPr id="14340" name="Rectangle 4">
            <a:extLst>
              <a:ext uri="{FF2B5EF4-FFF2-40B4-BE49-F238E27FC236}">
                <a16:creationId xmlns:a16="http://schemas.microsoft.com/office/drawing/2014/main" id="{6C03B6F7-B1AE-4118-ABA2-FFEC9B8F0E9C}"/>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646F5356-BDE8-43C1-9587-85323D02B1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89912C35-11A9-4DA7-8476-F1823F658CA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dirty="0"/>
          </a:p>
        </p:txBody>
      </p:sp>
      <p:sp>
        <p:nvSpPr>
          <p:cNvPr id="30727" name="Rectangle 7">
            <a:extLst>
              <a:ext uri="{FF2B5EF4-FFF2-40B4-BE49-F238E27FC236}">
                <a16:creationId xmlns:a16="http://schemas.microsoft.com/office/drawing/2014/main" id="{7180ED79-CEC3-4FB9-B511-8597B20A0C1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DEB7EE2-04A2-4FB2-9625-C9C73AC4D32F}"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A4671F7-4D2C-4B1E-AED7-24676BE8B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pPr eaLnBrk="1" hangingPunct="1"/>
              <a:t>1</a:t>
            </a:fld>
            <a:endParaRPr lang="en-US" altLang="en-US" dirty="0"/>
          </a:p>
        </p:txBody>
      </p:sp>
      <p:sp>
        <p:nvSpPr>
          <p:cNvPr id="15363" name="Rectangle 2">
            <a:extLst>
              <a:ext uri="{FF2B5EF4-FFF2-40B4-BE49-F238E27FC236}">
                <a16:creationId xmlns:a16="http://schemas.microsoft.com/office/drawing/2014/main" id="{D8E83BD0-7AE4-4323-9047-FC368929C52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DECF5EC-C5EC-4723-8F4F-A75A20018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5081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3</a:t>
            </a:fld>
            <a:endParaRPr lang="en-US" altLang="en-US" dirty="0"/>
          </a:p>
        </p:txBody>
      </p:sp>
    </p:spTree>
    <p:extLst>
      <p:ext uri="{BB962C8B-B14F-4D97-AF65-F5344CB8AC3E}">
        <p14:creationId xmlns:p14="http://schemas.microsoft.com/office/powerpoint/2010/main" val="1632278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4</a:t>
            </a:fld>
            <a:endParaRPr lang="en-US" altLang="en-US" dirty="0"/>
          </a:p>
        </p:txBody>
      </p:sp>
    </p:spTree>
    <p:extLst>
      <p:ext uri="{BB962C8B-B14F-4D97-AF65-F5344CB8AC3E}">
        <p14:creationId xmlns:p14="http://schemas.microsoft.com/office/powerpoint/2010/main" val="1383417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13</a:t>
            </a:fld>
            <a:endParaRPr lang="en-US" altLang="en-US" dirty="0"/>
          </a:p>
        </p:txBody>
      </p:sp>
    </p:spTree>
    <p:extLst>
      <p:ext uri="{BB962C8B-B14F-4D97-AF65-F5344CB8AC3E}">
        <p14:creationId xmlns:p14="http://schemas.microsoft.com/office/powerpoint/2010/main" val="40952882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DB60B1-BEF5-4848-BB02-98EBFE355C13}"/>
              </a:ext>
            </a:extLst>
          </p:cNvPr>
          <p:cNvPicPr>
            <a:picLocks noChangeAspect="1"/>
          </p:cNvPicPr>
          <p:nvPr userDrawn="1"/>
        </p:nvPicPr>
        <p:blipFill>
          <a:blip r:embed="rId2"/>
          <a:srcRect/>
          <a:stretch/>
        </p:blipFill>
        <p:spPr>
          <a:xfrm>
            <a:off x="0" y="1"/>
            <a:ext cx="12191998" cy="6857999"/>
          </a:xfrm>
          <a:prstGeom prst="rect">
            <a:avLst/>
          </a:prstGeom>
        </p:spPr>
      </p:pic>
      <p:sp>
        <p:nvSpPr>
          <p:cNvPr id="4" name="Title 3">
            <a:extLst>
              <a:ext uri="{FF2B5EF4-FFF2-40B4-BE49-F238E27FC236}">
                <a16:creationId xmlns:a16="http://schemas.microsoft.com/office/drawing/2014/main" id="{FE7964CB-E75A-4A03-88D3-6A48EF650A09}"/>
              </a:ext>
            </a:extLst>
          </p:cNvPr>
          <p:cNvSpPr>
            <a:spLocks noGrp="1"/>
          </p:cNvSpPr>
          <p:nvPr>
            <p:ph type="title" hasCustomPrompt="1"/>
          </p:nvPr>
        </p:nvSpPr>
        <p:spPr>
          <a:xfrm>
            <a:off x="5442012" y="2766219"/>
            <a:ext cx="6220101" cy="1325563"/>
          </a:xfrm>
          <a:prstGeom prst="rect">
            <a:avLst/>
          </a:prstGeom>
        </p:spPr>
        <p:txBody>
          <a:bodyPr/>
          <a:lstStyle>
            <a:lvl1pPr>
              <a:defRPr b="1"/>
            </a:lvl1pPr>
          </a:lstStyle>
          <a:p>
            <a:r>
              <a:rPr lang="en-US" dirty="0"/>
              <a:t>Insert title here</a:t>
            </a:r>
          </a:p>
        </p:txBody>
      </p:sp>
    </p:spTree>
    <p:extLst>
      <p:ext uri="{BB962C8B-B14F-4D97-AF65-F5344CB8AC3E}">
        <p14:creationId xmlns:p14="http://schemas.microsoft.com/office/powerpoint/2010/main" val="1440679267"/>
      </p:ext>
    </p:extLst>
  </p:cSld>
  <p:clrMapOvr>
    <a:masterClrMapping/>
  </p:clrMapOvr>
  <p:extLst>
    <p:ext uri="{DCECCB84-F9BA-43D5-87BE-67443E8EF086}">
      <p15:sldGuideLst xmlns:p15="http://schemas.microsoft.com/office/powerpoint/2012/main">
        <p15:guide id="1" pos="28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ight Patter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340929"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8FD53BA4-73D2-4CCA-8580-11F4221524F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17207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2"/>
        </a:solidFill>
        <a:effectLst/>
      </p:bgPr>
    </p:bg>
    <p:spTree>
      <p:nvGrpSpPr>
        <p:cNvPr id="1" name=""/>
        <p:cNvGrpSpPr/>
        <p:nvPr/>
      </p:nvGrpSpPr>
      <p:grpSpPr>
        <a:xfrm>
          <a:off x="0" y="0"/>
          <a:ext cx="0" cy="0"/>
          <a:chOff x="0" y="0"/>
          <a:chExt cx="0" cy="0"/>
        </a:xfrm>
      </p:grpSpPr>
      <p:pic>
        <p:nvPicPr>
          <p:cNvPr id="8" name="Picture Placeholder 6" descr="White Striped background">
            <a:extLst>
              <a:ext uri="{FF2B5EF4-FFF2-40B4-BE49-F238E27FC236}">
                <a16:creationId xmlns:a16="http://schemas.microsoft.com/office/drawing/2014/main" id="{3917D528-010E-4303-97BF-F7F67BC661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324088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2"/>
                </a:solidFill>
              </a:defRPr>
            </a:lvl1pPr>
          </a:lstStyle>
          <a:p>
            <a:r>
              <a:rPr lang="en-US" dirty="0"/>
              <a:t>Insert title here</a:t>
            </a:r>
          </a:p>
        </p:txBody>
      </p:sp>
      <p:sp>
        <p:nvSpPr>
          <p:cNvPr id="10" name="Text Placeholder 15">
            <a:extLst>
              <a:ext uri="{FF2B5EF4-FFF2-40B4-BE49-F238E27FC236}">
                <a16:creationId xmlns:a16="http://schemas.microsoft.com/office/drawing/2014/main" id="{780F473D-F2DF-4163-AB6E-F7327F60EC4A}"/>
              </a:ext>
            </a:extLst>
          </p:cNvPr>
          <p:cNvSpPr>
            <a:spLocks noGrp="1"/>
          </p:cNvSpPr>
          <p:nvPr>
            <p:ph type="body" sz="quarter" idx="11" hasCustomPrompt="1"/>
          </p:nvPr>
        </p:nvSpPr>
        <p:spPr>
          <a:xfrm>
            <a:off x="762000" y="1432562"/>
            <a:ext cx="10667999" cy="1158237"/>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11" name="Table Placeholder 10">
            <a:extLst>
              <a:ext uri="{FF2B5EF4-FFF2-40B4-BE49-F238E27FC236}">
                <a16:creationId xmlns:a16="http://schemas.microsoft.com/office/drawing/2014/main" id="{7DC18506-6205-438F-AA5C-D337F9975FC3}"/>
              </a:ext>
            </a:extLst>
          </p:cNvPr>
          <p:cNvSpPr>
            <a:spLocks noGrp="1"/>
          </p:cNvSpPr>
          <p:nvPr>
            <p:ph type="tbl" sz="quarter" idx="12" hasCustomPrompt="1"/>
          </p:nvPr>
        </p:nvSpPr>
        <p:spPr>
          <a:xfrm>
            <a:off x="757381" y="2591662"/>
            <a:ext cx="10667999" cy="2833776"/>
          </a:xfrm>
          <a:prstGeom prst="rect">
            <a:avLst/>
          </a:prstGeom>
        </p:spPr>
        <p:txBody>
          <a:bodyPr/>
          <a:lstStyle>
            <a:lvl1pPr marL="0" indent="0">
              <a:buNone/>
              <a:defRPr sz="1800" b="0"/>
            </a:lvl1pPr>
          </a:lstStyle>
          <a:p>
            <a:r>
              <a:rPr lang="en-US" dirty="0"/>
              <a:t>Insert content here</a:t>
            </a:r>
          </a:p>
        </p:txBody>
      </p:sp>
      <p:pic>
        <p:nvPicPr>
          <p:cNvPr id="7" name="Picture Placeholder 5" descr="Red, blue grey white pattern background">
            <a:extLst>
              <a:ext uri="{FF2B5EF4-FFF2-40B4-BE49-F238E27FC236}">
                <a16:creationId xmlns:a16="http://schemas.microsoft.com/office/drawing/2014/main" id="{CD2D4C14-919B-45F8-8FB9-55AAC8A8FCF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0252"/>
            <a:ext cx="12192000" cy="867748"/>
          </a:xfrm>
          <a:prstGeom prst="rect">
            <a:avLst/>
          </a:prstGeom>
        </p:spPr>
      </p:pic>
    </p:spTree>
    <p:extLst>
      <p:ext uri="{BB962C8B-B14F-4D97-AF65-F5344CB8AC3E}">
        <p14:creationId xmlns:p14="http://schemas.microsoft.com/office/powerpoint/2010/main" val="1422917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Pattern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1"/>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6" descr="Red, blue grey white pattern background">
            <a:extLst>
              <a:ext uri="{FF2B5EF4-FFF2-40B4-BE49-F238E27FC236}">
                <a16:creationId xmlns:a16="http://schemas.microsoft.com/office/drawing/2014/main" id="{3A82D859-AED3-485F-A04E-40320B1043A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218987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3">
                    <a:lumMod val="75000"/>
                  </a:schemeClr>
                </a:solidFill>
              </a:defRPr>
            </a:lvl1pPr>
          </a:lstStyle>
          <a:p>
            <a:r>
              <a:rPr lang="en-US" dirty="0"/>
              <a:t>Insert title here</a:t>
            </a:r>
          </a:p>
        </p:txBody>
      </p:sp>
      <p:sp>
        <p:nvSpPr>
          <p:cNvPr id="7" name="Text Placeholder 15">
            <a:extLst>
              <a:ext uri="{FF2B5EF4-FFF2-40B4-BE49-F238E27FC236}">
                <a16:creationId xmlns:a16="http://schemas.microsoft.com/office/drawing/2014/main" id="{DF03C311-DDF4-44A3-9D51-D5FDC4A8E7B5}"/>
              </a:ext>
            </a:extLst>
          </p:cNvPr>
          <p:cNvSpPr>
            <a:spLocks noGrp="1"/>
          </p:cNvSpPr>
          <p:nvPr>
            <p:ph type="body" sz="quarter" idx="11" hasCustomPrompt="1"/>
          </p:nvPr>
        </p:nvSpPr>
        <p:spPr>
          <a:xfrm>
            <a:off x="762000" y="1432562"/>
            <a:ext cx="10667999" cy="927425"/>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8" name="SmartArt Placeholder 7">
            <a:extLst>
              <a:ext uri="{FF2B5EF4-FFF2-40B4-BE49-F238E27FC236}">
                <a16:creationId xmlns:a16="http://schemas.microsoft.com/office/drawing/2014/main" id="{9FD563C5-3DFB-47DD-8A9E-30D8084590F6}"/>
              </a:ext>
            </a:extLst>
          </p:cNvPr>
          <p:cNvSpPr>
            <a:spLocks noGrp="1"/>
          </p:cNvSpPr>
          <p:nvPr>
            <p:ph type="dgm" sz="quarter" idx="14" hasCustomPrompt="1"/>
          </p:nvPr>
        </p:nvSpPr>
        <p:spPr>
          <a:xfrm>
            <a:off x="762001" y="2369129"/>
            <a:ext cx="10667998" cy="3343657"/>
          </a:xfrm>
          <a:prstGeom prst="rect">
            <a:avLst/>
          </a:prstGeom>
        </p:spPr>
        <p:txBody>
          <a:bodyPr/>
          <a:lstStyle>
            <a:lvl1pPr marL="0" indent="0">
              <a:buNone/>
              <a:defRPr sz="1800" b="0"/>
            </a:lvl1pPr>
          </a:lstStyle>
          <a:p>
            <a:r>
              <a:rPr lang="en-US" dirty="0"/>
              <a:t>Insert Content here</a:t>
            </a:r>
          </a:p>
        </p:txBody>
      </p:sp>
      <p:pic>
        <p:nvPicPr>
          <p:cNvPr id="9" name="Picture Placeholder 8" descr="Red, blue grey white pattern background">
            <a:extLst>
              <a:ext uri="{FF2B5EF4-FFF2-40B4-BE49-F238E27FC236}">
                <a16:creationId xmlns:a16="http://schemas.microsoft.com/office/drawing/2014/main" id="{EFDBB6A3-9760-4B41-9E31-6D5DD396E16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294626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Photo Conten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F45076F-4240-4B40-8CE4-637DD751A68B}"/>
              </a:ext>
            </a:extLst>
          </p:cNvPr>
          <p:cNvSpPr>
            <a:spLocks noGrp="1"/>
          </p:cNvSpPr>
          <p:nvPr>
            <p:ph type="title" hasCustomPrompt="1"/>
          </p:nvPr>
        </p:nvSpPr>
        <p:spPr>
          <a:xfrm>
            <a:off x="762000" y="715963"/>
            <a:ext cx="5334000" cy="1189038"/>
          </a:xfrm>
          <a:prstGeom prst="rect">
            <a:avLst/>
          </a:prstGeom>
        </p:spPr>
        <p:txBody>
          <a:bodyPr anchor="t">
            <a:normAutofit/>
          </a:bodyPr>
          <a:lstStyle>
            <a:lvl1pPr>
              <a:spcBef>
                <a:spcPts val="1000"/>
              </a:spcBef>
              <a:defRPr sz="4000" b="1">
                <a:solidFill>
                  <a:schemeClr val="accent2"/>
                </a:solidFill>
              </a:defRPr>
            </a:lvl1pPr>
          </a:lstStyle>
          <a:p>
            <a:r>
              <a:rPr lang="en-US" dirty="0"/>
              <a:t>Insert title here</a:t>
            </a:r>
          </a:p>
        </p:txBody>
      </p:sp>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1800" b="1"/>
            </a:lvl1pPr>
            <a:lvl2pPr marL="228600">
              <a:lnSpc>
                <a:spcPct val="100000"/>
              </a:lnSpc>
              <a:spcBef>
                <a:spcPts val="1000"/>
              </a:spcBef>
              <a:defRPr sz="1800"/>
            </a:lvl2pPr>
          </a:lstStyle>
          <a:p>
            <a:pPr lvl="0"/>
            <a:r>
              <a:rPr lang="en-US" dirty="0"/>
              <a:t>Insert subtitle here</a:t>
            </a:r>
          </a:p>
          <a:p>
            <a:pPr lvl="1"/>
            <a:r>
              <a:rPr lang="en-US" dirty="0"/>
              <a:t>Insert content here</a:t>
            </a:r>
          </a:p>
        </p:txBody>
      </p:sp>
      <p:sp>
        <p:nvSpPr>
          <p:cNvPr id="9" name="Picture Placeholder 13">
            <a:extLst>
              <a:ext uri="{FF2B5EF4-FFF2-40B4-BE49-F238E27FC236}">
                <a16:creationId xmlns:a16="http://schemas.microsoft.com/office/drawing/2014/main" id="{827A95C0-AE8D-46E1-9EF9-64504CBEF99E}"/>
              </a:ext>
            </a:extLst>
          </p:cNvPr>
          <p:cNvSpPr>
            <a:spLocks noGrp="1"/>
          </p:cNvSpPr>
          <p:nvPr>
            <p:ph type="pic" sz="quarter" idx="14"/>
          </p:nvPr>
        </p:nvSpPr>
        <p:spPr>
          <a:xfrm>
            <a:off x="6858000" y="715963"/>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sp>
        <p:nvSpPr>
          <p:cNvPr id="8" name="Picture Placeholder 13">
            <a:extLst>
              <a:ext uri="{FF2B5EF4-FFF2-40B4-BE49-F238E27FC236}">
                <a16:creationId xmlns:a16="http://schemas.microsoft.com/office/drawing/2014/main" id="{89E410BA-B0FE-4F0E-8BE5-D33CC016635B}"/>
              </a:ext>
            </a:extLst>
          </p:cNvPr>
          <p:cNvSpPr>
            <a:spLocks noGrp="1"/>
          </p:cNvSpPr>
          <p:nvPr>
            <p:ph type="pic" sz="quarter" idx="13"/>
          </p:nvPr>
        </p:nvSpPr>
        <p:spPr>
          <a:xfrm>
            <a:off x="6858000" y="3305541"/>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pic>
        <p:nvPicPr>
          <p:cNvPr id="11" name="Picture Placeholder 5" descr="Red, blue grey white pattern background">
            <a:extLst>
              <a:ext uri="{FF2B5EF4-FFF2-40B4-BE49-F238E27FC236}">
                <a16:creationId xmlns:a16="http://schemas.microsoft.com/office/drawing/2014/main" id="{1014381E-E235-4624-9267-69EEEE9826F2}"/>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80922"/>
            <a:ext cx="12192000" cy="877078"/>
          </a:xfrm>
          <a:prstGeom prst="rect">
            <a:avLst/>
          </a:prstGeom>
        </p:spPr>
      </p:pic>
    </p:spTree>
    <p:extLst>
      <p:ext uri="{BB962C8B-B14F-4D97-AF65-F5344CB8AC3E}">
        <p14:creationId xmlns:p14="http://schemas.microsoft.com/office/powerpoint/2010/main" val="1586680172"/>
      </p:ext>
    </p:extLst>
  </p:cSld>
  <p:clrMapOvr>
    <a:masterClrMapping/>
  </p:clrMapOvr>
  <p:extLst>
    <p:ext uri="{DCECCB84-F9BA-43D5-87BE-67443E8EF086}">
      <p15:sldGuideLst xmlns:p15="http://schemas.microsoft.com/office/powerpoint/2012/main">
        <p15:guide id="1" orient="horz" pos="3672"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Pattern Content Gra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3">
                    <a:lumMod val="75000"/>
                  </a:schemeClr>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6696C96D-182E-490E-A117-B60FF185367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395142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accent1"/>
        </a:solidFill>
        <a:effectLst/>
      </p:bgPr>
    </p:bg>
    <p:spTree>
      <p:nvGrpSpPr>
        <p:cNvPr id="1" name=""/>
        <p:cNvGrpSpPr/>
        <p:nvPr/>
      </p:nvGrpSpPr>
      <p:grpSpPr>
        <a:xfrm>
          <a:off x="0" y="0"/>
          <a:ext cx="0" cy="0"/>
          <a:chOff x="0" y="0"/>
          <a:chExt cx="0" cy="0"/>
        </a:xfrm>
      </p:grpSpPr>
      <p:pic>
        <p:nvPicPr>
          <p:cNvPr id="8" name="Picture Placeholder 6" descr="Picture placeholder ">
            <a:extLst>
              <a:ext uri="{FF2B5EF4-FFF2-40B4-BE49-F238E27FC236}">
                <a16:creationId xmlns:a16="http://schemas.microsoft.com/office/drawing/2014/main" id="{21F9B252-B7D4-4DA8-92E8-8A98BFEF41B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410071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724906-4405-47F4-B533-7291B003B0A2}"/>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accent1"/>
                </a:solidFill>
                <a:effectLst/>
                <a:latin typeface="+mj-lt"/>
                <a:ea typeface="+mn-ea"/>
                <a:cs typeface="Segoe UI" pitchFamily="34" charset="0"/>
              </a:defRPr>
            </a:lvl1pPr>
          </a:lstStyle>
          <a:p>
            <a:r>
              <a:rPr lang="en-US" dirty="0"/>
              <a:t>Insert title here</a:t>
            </a:r>
          </a:p>
        </p:txBody>
      </p:sp>
      <p:sp>
        <p:nvSpPr>
          <p:cNvPr id="14" name="Text Placeholder 4">
            <a:extLst>
              <a:ext uri="{FF2B5EF4-FFF2-40B4-BE49-F238E27FC236}">
                <a16:creationId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906BF34F-6945-4E11-BAEC-F66F7254C4C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9552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ft Pattern Content Blue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BC85C715-EF0D-4E33-AC89-C35DD2596E5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84037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690444"/>
      </p:ext>
    </p:extLst>
  </p:cSld>
  <p:clrMap bg1="dk1" tx1="lt1" bg2="dk2" tx2="lt2" accent1="accent1" accent2="accent2" accent3="accent3" accent4="accent4" accent5="accent5" accent6="accent6" hlink="hlink" folHlink="folHlink"/>
  <p:sldLayoutIdLst>
    <p:sldLayoutId id="2147483689" r:id="rId1"/>
    <p:sldLayoutId id="2147483699" r:id="rId2"/>
    <p:sldLayoutId id="2147483700" r:id="rId3"/>
    <p:sldLayoutId id="2147483691" r:id="rId4"/>
    <p:sldLayoutId id="2147483701" r:id="rId5"/>
    <p:sldLayoutId id="2147483706" r:id="rId6"/>
    <p:sldLayoutId id="2147483702" r:id="rId7"/>
    <p:sldLayoutId id="2147483704" r:id="rId8"/>
    <p:sldLayoutId id="2147483703" r:id="rId9"/>
    <p:sldLayoutId id="2147483690" r:id="rId10"/>
    <p:sldLayoutId id="2147483708"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medium.com/nerd-for-tech/aws-series-reference-architecture-1-web-application-type-1-2817c8dc09b" TargetMode="External"/><Relationship Id="rId2" Type="http://schemas.openxmlformats.org/officeDocument/2006/relationships/hyperlink" Target="https://www.mdpi.com/2227-9032/8/2/133" TargetMode="External"/><Relationship Id="rId1" Type="http://schemas.openxmlformats.org/officeDocument/2006/relationships/slideLayout" Target="../slideLayouts/slideLayout11.xml"/><Relationship Id="rId4" Type="http://schemas.openxmlformats.org/officeDocument/2006/relationships/hyperlink" Target="https://naturalresources.canada.ca/sites/www.nrcan.gc.ca/files/mineralsmetals/files/pdf/rmd-rrm/GoodPractices2ed_En.pdf"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healthit.gov/topic/patient-access-information-individuals-get-it-check-it-use-it" TargetMode="External"/><Relationship Id="rId2" Type="http://schemas.openxmlformats.org/officeDocument/2006/relationships/hyperlink" Target="https://nvlpubs.nist.gov/nistpubs/SpecialPublications/NIST.SP.800-88r1.pdf" TargetMode="External"/><Relationship Id="rId1" Type="http://schemas.openxmlformats.org/officeDocument/2006/relationships/slideLayout" Target="../slideLayouts/slideLayout5.xml"/><Relationship Id="rId5" Type="http://schemas.openxmlformats.org/officeDocument/2006/relationships/hyperlink" Target="https://nces.ed.gov/pubs98/safetech/chapter3.asp" TargetMode="External"/><Relationship Id="rId4" Type="http://schemas.openxmlformats.org/officeDocument/2006/relationships/hyperlink" Target="https://research.aimultiple.com/managed-security-service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D2DB031-9003-4F74-A88F-FE2A2ABABC72}"/>
              </a:ext>
            </a:extLst>
          </p:cNvPr>
          <p:cNvSpPr>
            <a:spLocks noGrp="1" noChangeArrowheads="1"/>
          </p:cNvSpPr>
          <p:nvPr>
            <p:ph type="title"/>
          </p:nvPr>
        </p:nvSpPr>
        <p:spPr>
          <a:xfrm>
            <a:off x="4572000" y="2766219"/>
            <a:ext cx="7090113" cy="1325563"/>
          </a:xfrm>
        </p:spPr>
        <p:txBody>
          <a:bodyPr anchor="ctr">
            <a:noAutofit/>
          </a:bodyPr>
          <a:lstStyle/>
          <a:p>
            <a:r>
              <a:rPr lang="en-US" altLang="en-US" dirty="0">
                <a:solidFill>
                  <a:schemeClr val="accent2"/>
                </a:solidFill>
              </a:rPr>
              <a:t>Cloud </a:t>
            </a:r>
            <a:r>
              <a:rPr lang="en-US" altLang="en-US" dirty="0">
                <a:solidFill>
                  <a:schemeClr val="accent1"/>
                </a:solidFill>
              </a:rPr>
              <a:t>Based</a:t>
            </a:r>
            <a:br>
              <a:rPr lang="en-US" altLang="en-US" dirty="0"/>
            </a:br>
            <a:r>
              <a:rPr lang="en-US" altLang="en-US" dirty="0"/>
              <a:t>Managed Security Service</a:t>
            </a:r>
          </a:p>
        </p:txBody>
      </p:sp>
    </p:spTree>
    <p:extLst>
      <p:ext uri="{BB962C8B-B14F-4D97-AF65-F5344CB8AC3E}">
        <p14:creationId xmlns:p14="http://schemas.microsoft.com/office/powerpoint/2010/main" val="154326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BA0B6F-5258-479C-87B7-C806E6757035}"/>
              </a:ext>
            </a:extLst>
          </p:cNvPr>
          <p:cNvSpPr>
            <a:spLocks noGrp="1"/>
          </p:cNvSpPr>
          <p:nvPr>
            <p:ph type="title"/>
          </p:nvPr>
        </p:nvSpPr>
        <p:spPr>
          <a:xfrm>
            <a:off x="762000" y="715961"/>
            <a:ext cx="6477000" cy="619353"/>
          </a:xfrm>
        </p:spPr>
        <p:txBody>
          <a:bodyPr/>
          <a:lstStyle/>
          <a:p>
            <a:r>
              <a:rPr lang="en-US" dirty="0"/>
              <a:t>Meet our team</a:t>
            </a:r>
          </a:p>
        </p:txBody>
      </p:sp>
      <p:sp>
        <p:nvSpPr>
          <p:cNvPr id="2" name="Text Placeholder 1">
            <a:extLst>
              <a:ext uri="{FF2B5EF4-FFF2-40B4-BE49-F238E27FC236}">
                <a16:creationId xmlns:a16="http://schemas.microsoft.com/office/drawing/2014/main" id="{3F36812B-2065-4A2B-B59B-8957022687BC}"/>
              </a:ext>
            </a:extLst>
          </p:cNvPr>
          <p:cNvSpPr>
            <a:spLocks noGrp="1"/>
          </p:cNvSpPr>
          <p:nvPr>
            <p:ph type="body" sz="quarter" idx="11"/>
          </p:nvPr>
        </p:nvSpPr>
        <p:spPr>
          <a:xfrm>
            <a:off x="227915" y="3155724"/>
            <a:ext cx="6340929" cy="3276600"/>
          </a:xfrm>
        </p:spPr>
        <p:txBody>
          <a:bodyPr/>
          <a:lstStyle/>
          <a:p>
            <a:r>
              <a:rPr lang="en-US" sz="2000" dirty="0">
                <a:solidFill>
                  <a:schemeClr val="bg1"/>
                </a:solidFill>
              </a:rPr>
              <a:t>Nikhilkumar Dobariya</a:t>
            </a:r>
          </a:p>
          <a:p>
            <a:r>
              <a:rPr lang="en-US" sz="2000" dirty="0">
                <a:solidFill>
                  <a:schemeClr val="bg1"/>
                </a:solidFill>
              </a:rPr>
              <a:t>Varun Gulati</a:t>
            </a:r>
          </a:p>
          <a:p>
            <a:r>
              <a:rPr lang="en-US" sz="2000" dirty="0">
                <a:solidFill>
                  <a:schemeClr val="bg1"/>
                </a:solidFill>
              </a:rPr>
              <a:t>Manpreet Kaur</a:t>
            </a:r>
          </a:p>
          <a:p>
            <a:r>
              <a:rPr lang="en-US" sz="2000" dirty="0">
                <a:solidFill>
                  <a:schemeClr val="bg1"/>
                </a:solidFill>
              </a:rPr>
              <a:t>Haroon John</a:t>
            </a:r>
          </a:p>
        </p:txBody>
      </p:sp>
      <p:sp>
        <p:nvSpPr>
          <p:cNvPr id="3" name="Text Placeholder 33">
            <a:extLst>
              <a:ext uri="{FF2B5EF4-FFF2-40B4-BE49-F238E27FC236}">
                <a16:creationId xmlns:a16="http://schemas.microsoft.com/office/drawing/2014/main" id="{586BA0A9-9075-2E20-9130-66E776E0D2CF}"/>
              </a:ext>
            </a:extLst>
          </p:cNvPr>
          <p:cNvSpPr txBox="1">
            <a:spLocks/>
          </p:cNvSpPr>
          <p:nvPr/>
        </p:nvSpPr>
        <p:spPr>
          <a:xfrm>
            <a:off x="227915" y="1796623"/>
            <a:ext cx="2892656" cy="3852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en-US" sz="2400" b="1" dirty="0"/>
              <a:t>Parthkumar Patel</a:t>
            </a:r>
          </a:p>
        </p:txBody>
      </p:sp>
      <p:sp>
        <p:nvSpPr>
          <p:cNvPr id="4" name="Text Placeholder 34">
            <a:extLst>
              <a:ext uri="{FF2B5EF4-FFF2-40B4-BE49-F238E27FC236}">
                <a16:creationId xmlns:a16="http://schemas.microsoft.com/office/drawing/2014/main" id="{E8C69188-39E3-97E8-C815-E95906427657}"/>
              </a:ext>
            </a:extLst>
          </p:cNvPr>
          <p:cNvSpPr txBox="1">
            <a:spLocks/>
          </p:cNvSpPr>
          <p:nvPr/>
        </p:nvSpPr>
        <p:spPr>
          <a:xfrm>
            <a:off x="227915" y="2143052"/>
            <a:ext cx="2281237" cy="3476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en-US" sz="1800" dirty="0"/>
              <a:t>Project Manager</a:t>
            </a:r>
          </a:p>
        </p:txBody>
      </p:sp>
      <p:sp>
        <p:nvSpPr>
          <p:cNvPr id="9" name="TextBox 8">
            <a:extLst>
              <a:ext uri="{FF2B5EF4-FFF2-40B4-BE49-F238E27FC236}">
                <a16:creationId xmlns:a16="http://schemas.microsoft.com/office/drawing/2014/main" id="{66B20511-CBA2-923D-DEE8-B1057DACF330}"/>
              </a:ext>
            </a:extLst>
          </p:cNvPr>
          <p:cNvSpPr txBox="1"/>
          <p:nvPr/>
        </p:nvSpPr>
        <p:spPr>
          <a:xfrm>
            <a:off x="4513942" y="2143052"/>
            <a:ext cx="2725058" cy="369332"/>
          </a:xfrm>
          <a:prstGeom prst="rect">
            <a:avLst/>
          </a:prstGeom>
          <a:noFill/>
        </p:spPr>
        <p:txBody>
          <a:bodyPr wrap="square">
            <a:spAutoFit/>
          </a:bodyPr>
          <a:lstStyle/>
          <a:p>
            <a:pPr marL="0" indent="0" fontAlgn="auto">
              <a:spcAft>
                <a:spcPts val="0"/>
              </a:spcAft>
              <a:buNone/>
            </a:pPr>
            <a:r>
              <a:rPr lang="en-US" dirty="0">
                <a:solidFill>
                  <a:schemeClr val="bg1"/>
                </a:solidFill>
                <a:latin typeface="+mn-lt"/>
              </a:rPr>
              <a:t>Project Advisor</a:t>
            </a:r>
          </a:p>
        </p:txBody>
      </p:sp>
      <p:sp>
        <p:nvSpPr>
          <p:cNvPr id="11" name="TextBox 10">
            <a:extLst>
              <a:ext uri="{FF2B5EF4-FFF2-40B4-BE49-F238E27FC236}">
                <a16:creationId xmlns:a16="http://schemas.microsoft.com/office/drawing/2014/main" id="{FBA885A2-E975-6684-1CB6-B65797549F48}"/>
              </a:ext>
            </a:extLst>
          </p:cNvPr>
          <p:cNvSpPr txBox="1"/>
          <p:nvPr/>
        </p:nvSpPr>
        <p:spPr>
          <a:xfrm>
            <a:off x="4513942" y="1796623"/>
            <a:ext cx="2281237" cy="461665"/>
          </a:xfrm>
          <a:prstGeom prst="rect">
            <a:avLst/>
          </a:prstGeom>
          <a:noFill/>
        </p:spPr>
        <p:txBody>
          <a:bodyPr wrap="square">
            <a:spAutoFit/>
          </a:bodyPr>
          <a:lstStyle/>
          <a:p>
            <a:r>
              <a:rPr lang="en-US" sz="2400" b="1" dirty="0">
                <a:solidFill>
                  <a:schemeClr val="bg1"/>
                </a:solidFill>
                <a:latin typeface="+mn-lt"/>
              </a:rPr>
              <a:t>Sharif Ahmed</a:t>
            </a:r>
          </a:p>
        </p:txBody>
      </p:sp>
    </p:spTree>
    <p:extLst>
      <p:ext uri="{BB962C8B-B14F-4D97-AF65-F5344CB8AC3E}">
        <p14:creationId xmlns:p14="http://schemas.microsoft.com/office/powerpoint/2010/main" val="46166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a:xfrm>
            <a:off x="1525301" y="166667"/>
            <a:ext cx="9141397" cy="615553"/>
          </a:xfrm>
        </p:spPr>
        <p:txBody>
          <a:bodyPr/>
          <a:lstStyle/>
          <a:p>
            <a:r>
              <a:rPr lang="en-US" dirty="0"/>
              <a:t>Agenda</a:t>
            </a:r>
          </a:p>
        </p:txBody>
      </p:sp>
      <p:sp>
        <p:nvSpPr>
          <p:cNvPr id="3" name="Rectangle: Rounded Corners 2">
            <a:extLst>
              <a:ext uri="{FF2B5EF4-FFF2-40B4-BE49-F238E27FC236}">
                <a16:creationId xmlns:a16="http://schemas.microsoft.com/office/drawing/2014/main" id="{481AC8DF-31AC-CDD7-08BA-2F76614ED09D}"/>
              </a:ext>
            </a:extLst>
          </p:cNvPr>
          <p:cNvSpPr/>
          <p:nvPr/>
        </p:nvSpPr>
        <p:spPr>
          <a:xfrm>
            <a:off x="4806552" y="3720177"/>
            <a:ext cx="2578893" cy="1534757"/>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2000" b="1" dirty="0">
                <a:solidFill>
                  <a:schemeClr val="bg1"/>
                </a:solidFill>
              </a:rPr>
              <a:t>Project Demonstration</a:t>
            </a:r>
          </a:p>
        </p:txBody>
      </p:sp>
      <p:sp>
        <p:nvSpPr>
          <p:cNvPr id="5" name="Rectangle: Rounded Corners 4">
            <a:extLst>
              <a:ext uri="{FF2B5EF4-FFF2-40B4-BE49-F238E27FC236}">
                <a16:creationId xmlns:a16="http://schemas.microsoft.com/office/drawing/2014/main" id="{27B5E019-A1E5-5FD5-AEF4-1A4C5174A8EF}"/>
              </a:ext>
            </a:extLst>
          </p:cNvPr>
          <p:cNvSpPr/>
          <p:nvPr/>
        </p:nvSpPr>
        <p:spPr>
          <a:xfrm>
            <a:off x="4806552" y="1894243"/>
            <a:ext cx="2578893" cy="15347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solidFill>
                  <a:schemeClr val="tx1"/>
                </a:solidFill>
              </a:rPr>
              <a:t>Project Objective</a:t>
            </a:r>
          </a:p>
        </p:txBody>
      </p:sp>
      <p:sp>
        <p:nvSpPr>
          <p:cNvPr id="7" name="Rectangle: Rounded Corners 6">
            <a:extLst>
              <a:ext uri="{FF2B5EF4-FFF2-40B4-BE49-F238E27FC236}">
                <a16:creationId xmlns:a16="http://schemas.microsoft.com/office/drawing/2014/main" id="{A52B3E30-CF81-A849-ED28-FC9AF8834B2A}"/>
              </a:ext>
            </a:extLst>
          </p:cNvPr>
          <p:cNvSpPr/>
          <p:nvPr/>
        </p:nvSpPr>
        <p:spPr>
          <a:xfrm>
            <a:off x="7578232" y="1894243"/>
            <a:ext cx="2578893" cy="15347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solidFill>
                  <a:schemeClr val="tx1"/>
                </a:solidFill>
              </a:rPr>
              <a:t>Benefits</a:t>
            </a:r>
          </a:p>
        </p:txBody>
      </p:sp>
      <p:sp>
        <p:nvSpPr>
          <p:cNvPr id="8" name="Rectangle: Rounded Corners 7">
            <a:extLst>
              <a:ext uri="{FF2B5EF4-FFF2-40B4-BE49-F238E27FC236}">
                <a16:creationId xmlns:a16="http://schemas.microsoft.com/office/drawing/2014/main" id="{7385004B-3FDE-76D1-E0FF-0397DE769A43}"/>
              </a:ext>
            </a:extLst>
          </p:cNvPr>
          <p:cNvSpPr/>
          <p:nvPr/>
        </p:nvSpPr>
        <p:spPr>
          <a:xfrm>
            <a:off x="2034874" y="3720177"/>
            <a:ext cx="2578893" cy="15347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solidFill>
                  <a:schemeClr val="tx1"/>
                </a:solidFill>
              </a:rPr>
              <a:t>Effective Project Solution</a:t>
            </a:r>
          </a:p>
        </p:txBody>
      </p:sp>
      <p:sp>
        <p:nvSpPr>
          <p:cNvPr id="9" name="Rectangle: Rounded Corners 8">
            <a:extLst>
              <a:ext uri="{FF2B5EF4-FFF2-40B4-BE49-F238E27FC236}">
                <a16:creationId xmlns:a16="http://schemas.microsoft.com/office/drawing/2014/main" id="{BAD91914-E564-3799-5847-7C407A6C03F5}"/>
              </a:ext>
            </a:extLst>
          </p:cNvPr>
          <p:cNvSpPr/>
          <p:nvPr/>
        </p:nvSpPr>
        <p:spPr>
          <a:xfrm>
            <a:off x="2034874" y="1894242"/>
            <a:ext cx="2578893" cy="1534757"/>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2000" b="1" dirty="0">
                <a:solidFill>
                  <a:schemeClr val="bg1"/>
                </a:solidFill>
              </a:rPr>
              <a:t>Project Background</a:t>
            </a:r>
          </a:p>
        </p:txBody>
      </p:sp>
      <p:sp>
        <p:nvSpPr>
          <p:cNvPr id="10" name="Rectangle: Rounded Corners 9">
            <a:extLst>
              <a:ext uri="{FF2B5EF4-FFF2-40B4-BE49-F238E27FC236}">
                <a16:creationId xmlns:a16="http://schemas.microsoft.com/office/drawing/2014/main" id="{61DF8B98-CB8D-AC36-A0D8-8CF731EE1BD8}"/>
              </a:ext>
            </a:extLst>
          </p:cNvPr>
          <p:cNvSpPr/>
          <p:nvPr/>
        </p:nvSpPr>
        <p:spPr>
          <a:xfrm>
            <a:off x="7578232" y="3720177"/>
            <a:ext cx="2578893" cy="15347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solidFill>
                  <a:schemeClr val="tx1"/>
                </a:solidFill>
              </a:rPr>
              <a:t>Bibliography</a:t>
            </a:r>
          </a:p>
        </p:txBody>
      </p:sp>
    </p:spTree>
    <p:extLst>
      <p:ext uri="{BB962C8B-B14F-4D97-AF65-F5344CB8AC3E}">
        <p14:creationId xmlns:p14="http://schemas.microsoft.com/office/powerpoint/2010/main" val="803542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8FBE6B-DC67-4E64-80F4-CADE978D2FE3}"/>
              </a:ext>
            </a:extLst>
          </p:cNvPr>
          <p:cNvSpPr>
            <a:spLocks noGrp="1"/>
          </p:cNvSpPr>
          <p:nvPr>
            <p:ph type="title"/>
          </p:nvPr>
        </p:nvSpPr>
        <p:spPr>
          <a:xfrm>
            <a:off x="762000" y="715964"/>
            <a:ext cx="10591800" cy="646332"/>
          </a:xfrm>
        </p:spPr>
        <p:txBody>
          <a:bodyPr/>
          <a:lstStyle/>
          <a:p>
            <a:r>
              <a:rPr lang="en-US" dirty="0">
                <a:solidFill>
                  <a:schemeClr val="bg1"/>
                </a:solidFill>
              </a:rPr>
              <a:t>Project Background</a:t>
            </a:r>
          </a:p>
        </p:txBody>
      </p:sp>
      <p:sp>
        <p:nvSpPr>
          <p:cNvPr id="11" name="Text Placeholder 10">
            <a:extLst>
              <a:ext uri="{FF2B5EF4-FFF2-40B4-BE49-F238E27FC236}">
                <a16:creationId xmlns:a16="http://schemas.microsoft.com/office/drawing/2014/main" id="{4C6A9FD9-630E-44B9-BED8-AFEA6C84A88B}"/>
              </a:ext>
            </a:extLst>
          </p:cNvPr>
          <p:cNvSpPr>
            <a:spLocks noGrp="1"/>
          </p:cNvSpPr>
          <p:nvPr>
            <p:ph type="body" sz="quarter" idx="11"/>
          </p:nvPr>
        </p:nvSpPr>
        <p:spPr>
          <a:xfrm>
            <a:off x="723900" y="1926048"/>
            <a:ext cx="10667999" cy="3052352"/>
          </a:xfrm>
        </p:spPr>
        <p:txBody>
          <a:bodyPr/>
          <a:lstStyle/>
          <a:p>
            <a:pPr>
              <a:lnSpc>
                <a:spcPct val="160000"/>
              </a:lnSpc>
            </a:pPr>
            <a:r>
              <a:rPr lang="en-US" sz="2000" dirty="0"/>
              <a:t>Khupragenics, a start-up in Toronto's MaRS Discovery District, specializing in utilizing genomic sequencing to find disease-causing mutations in infants. This is very sensitive information is shared with medical experts and parents so that possibly life-saving clinical intervention can be provided. We are certain that our recommended solution will assist Khupragenics in establishing a strong foundation of trust with its clients, assuring the company's long-term success. </a:t>
            </a:r>
          </a:p>
        </p:txBody>
      </p:sp>
    </p:spTree>
    <p:extLst>
      <p:ext uri="{BB962C8B-B14F-4D97-AF65-F5344CB8AC3E}">
        <p14:creationId xmlns:p14="http://schemas.microsoft.com/office/powerpoint/2010/main" val="295767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9898FA-AA9C-9115-6AA9-A096B742FFC0}"/>
              </a:ext>
            </a:extLst>
          </p:cNvPr>
          <p:cNvSpPr>
            <a:spLocks noGrp="1"/>
          </p:cNvSpPr>
          <p:nvPr>
            <p:ph type="title"/>
          </p:nvPr>
        </p:nvSpPr>
        <p:spPr>
          <a:xfrm>
            <a:off x="1409186" y="297866"/>
            <a:ext cx="9141397" cy="615553"/>
          </a:xfrm>
        </p:spPr>
        <p:txBody>
          <a:bodyPr/>
          <a:lstStyle/>
          <a:p>
            <a:r>
              <a:rPr lang="en-US" dirty="0">
                <a:solidFill>
                  <a:schemeClr val="bg1">
                    <a:lumMod val="75000"/>
                    <a:lumOff val="25000"/>
                  </a:schemeClr>
                </a:solidFill>
              </a:rPr>
              <a:t>DATA BREACHES</a:t>
            </a:r>
          </a:p>
        </p:txBody>
      </p:sp>
      <p:graphicFrame>
        <p:nvGraphicFramePr>
          <p:cNvPr id="7" name="Content Placeholder 21">
            <a:extLst>
              <a:ext uri="{FF2B5EF4-FFF2-40B4-BE49-F238E27FC236}">
                <a16:creationId xmlns:a16="http://schemas.microsoft.com/office/drawing/2014/main" id="{09E8A482-CD22-ECE3-4747-3E384C671B41}"/>
              </a:ext>
            </a:extLst>
          </p:cNvPr>
          <p:cNvGraphicFramePr>
            <a:graphicFrameLocks noGrp="1"/>
          </p:cNvGraphicFramePr>
          <p:nvPr>
            <p:ph idx="4294967295"/>
            <p:extLst>
              <p:ext uri="{D42A27DB-BD31-4B8C-83A1-F6EECF244321}">
                <p14:modId xmlns:p14="http://schemas.microsoft.com/office/powerpoint/2010/main" val="128321884"/>
              </p:ext>
            </p:extLst>
          </p:nvPr>
        </p:nvGraphicFramePr>
        <p:xfrm>
          <a:off x="922337" y="1233715"/>
          <a:ext cx="5173663" cy="3657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20">
            <a:extLst>
              <a:ext uri="{FF2B5EF4-FFF2-40B4-BE49-F238E27FC236}">
                <a16:creationId xmlns:a16="http://schemas.microsoft.com/office/drawing/2014/main" id="{FF28DF81-17F6-BF8E-A5A4-982966A92DF9}"/>
              </a:ext>
            </a:extLst>
          </p:cNvPr>
          <p:cNvGraphicFramePr>
            <a:graphicFrameLocks/>
          </p:cNvGraphicFramePr>
          <p:nvPr>
            <p:extLst>
              <p:ext uri="{D42A27DB-BD31-4B8C-83A1-F6EECF244321}">
                <p14:modId xmlns:p14="http://schemas.microsoft.com/office/powerpoint/2010/main" val="1039554548"/>
              </p:ext>
            </p:extLst>
          </p:nvPr>
        </p:nvGraphicFramePr>
        <p:xfrm>
          <a:off x="5979884" y="1233715"/>
          <a:ext cx="5275263"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F6AA4168-4DD4-F5E9-460D-638A5043B63B}"/>
              </a:ext>
            </a:extLst>
          </p:cNvPr>
          <p:cNvSpPr txBox="1"/>
          <p:nvPr/>
        </p:nvSpPr>
        <p:spPr>
          <a:xfrm>
            <a:off x="348343" y="5956439"/>
            <a:ext cx="6096000" cy="461665"/>
          </a:xfrm>
          <a:prstGeom prst="rect">
            <a:avLst/>
          </a:prstGeom>
          <a:noFill/>
        </p:spPr>
        <p:txBody>
          <a:bodyPr wrap="square">
            <a:spAutoFit/>
          </a:bodyPr>
          <a:lstStyle/>
          <a:p>
            <a:r>
              <a:rPr lang="en-CA" sz="1200" b="1" dirty="0">
                <a:latin typeface="+mn-lt"/>
              </a:rPr>
              <a:t>(Seh, A. H., Zarour, M., Alenezi, M., Sarkar, A. K., Agrawal, A., Kumar, R., &amp; Ahmad Khan, R. 2020, May 13).</a:t>
            </a:r>
          </a:p>
        </p:txBody>
      </p:sp>
    </p:spTree>
    <p:extLst>
      <p:ext uri="{BB962C8B-B14F-4D97-AF65-F5344CB8AC3E}">
        <p14:creationId xmlns:p14="http://schemas.microsoft.com/office/powerpoint/2010/main" val="1064827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262CD5-AD01-42E3-9173-97C12BB0D9B8}"/>
              </a:ext>
            </a:extLst>
          </p:cNvPr>
          <p:cNvSpPr>
            <a:spLocks noGrp="1"/>
          </p:cNvSpPr>
          <p:nvPr>
            <p:ph type="title"/>
          </p:nvPr>
        </p:nvSpPr>
        <p:spPr>
          <a:xfrm>
            <a:off x="5199742" y="513328"/>
            <a:ext cx="6477000" cy="1189037"/>
          </a:xfrm>
        </p:spPr>
        <p:txBody>
          <a:bodyPr/>
          <a:lstStyle/>
          <a:p>
            <a:r>
              <a:rPr lang="en-US" dirty="0"/>
              <a:t>Project objective</a:t>
            </a:r>
            <a:br>
              <a:rPr lang="en-US" dirty="0"/>
            </a:br>
            <a:endParaRPr lang="en-US" dirty="0"/>
          </a:p>
        </p:txBody>
      </p:sp>
      <p:sp>
        <p:nvSpPr>
          <p:cNvPr id="3" name="Text Placeholder 2">
            <a:extLst>
              <a:ext uri="{FF2B5EF4-FFF2-40B4-BE49-F238E27FC236}">
                <a16:creationId xmlns:a16="http://schemas.microsoft.com/office/drawing/2014/main" id="{EF99585A-5E1F-40FA-8E64-BB4F04611657}"/>
              </a:ext>
            </a:extLst>
          </p:cNvPr>
          <p:cNvSpPr>
            <a:spLocks noGrp="1"/>
          </p:cNvSpPr>
          <p:nvPr>
            <p:ph type="body" sz="quarter" idx="11"/>
          </p:nvPr>
        </p:nvSpPr>
        <p:spPr>
          <a:xfrm>
            <a:off x="5199742" y="1310479"/>
            <a:ext cx="6477000" cy="2927692"/>
          </a:xfrm>
        </p:spPr>
        <p:txBody>
          <a:bodyPr vert="horz" lIns="91440" tIns="45720" rIns="91440" bIns="45720" rtlCol="0" anchor="t">
            <a:noAutofit/>
          </a:bodyPr>
          <a:lstStyle/>
          <a:p>
            <a:pPr>
              <a:lnSpc>
                <a:spcPct val="150000"/>
              </a:lnSpc>
            </a:pPr>
            <a:r>
              <a:rPr lang="en-US" sz="2000" b="0" dirty="0"/>
              <a:t>The primary purpose of this project is to illustrate our strategy for increasing client trust in Khupragenics' capacity to handle sensitive information safely. As a firm focused on employing genomic sequencing to uncover disease-causing mutations in infants, patient data security is critical. We want to offer Khupragenics with the necessary tools and resources to adequately preserve sensitive material and guarantee that medical professionals and parents can trust the firm with their most precious information through our recommended techniques</a:t>
            </a:r>
            <a:r>
              <a:rPr lang="en-US" sz="2000" dirty="0"/>
              <a:t>. </a:t>
            </a:r>
          </a:p>
        </p:txBody>
      </p:sp>
    </p:spTree>
    <p:extLst>
      <p:ext uri="{BB962C8B-B14F-4D97-AF65-F5344CB8AC3E}">
        <p14:creationId xmlns:p14="http://schemas.microsoft.com/office/powerpoint/2010/main" val="39478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18C6B5-87AC-4DA5-94CA-6E092A6A07D3}"/>
              </a:ext>
            </a:extLst>
          </p:cNvPr>
          <p:cNvSpPr>
            <a:spLocks noGrp="1"/>
          </p:cNvSpPr>
          <p:nvPr>
            <p:ph type="title"/>
          </p:nvPr>
        </p:nvSpPr>
        <p:spPr>
          <a:xfrm>
            <a:off x="762000" y="241385"/>
            <a:ext cx="10591800" cy="646332"/>
          </a:xfrm>
        </p:spPr>
        <p:txBody>
          <a:bodyPr/>
          <a:lstStyle/>
          <a:p>
            <a:r>
              <a:rPr lang="en-US" dirty="0">
                <a:solidFill>
                  <a:schemeClr val="bg1">
                    <a:lumMod val="65000"/>
                    <a:lumOff val="35000"/>
                  </a:schemeClr>
                </a:solidFill>
              </a:rPr>
              <a:t>The Business Benefits of our Project</a:t>
            </a:r>
          </a:p>
        </p:txBody>
      </p:sp>
      <p:sp>
        <p:nvSpPr>
          <p:cNvPr id="7" name="Text Placeholder 6">
            <a:extLst>
              <a:ext uri="{FF2B5EF4-FFF2-40B4-BE49-F238E27FC236}">
                <a16:creationId xmlns:a16="http://schemas.microsoft.com/office/drawing/2014/main" id="{C6F52EDA-7F85-46DD-9A9E-95E0E3EC3F84}"/>
              </a:ext>
            </a:extLst>
          </p:cNvPr>
          <p:cNvSpPr>
            <a:spLocks noGrp="1"/>
          </p:cNvSpPr>
          <p:nvPr>
            <p:ph type="body" sz="quarter" idx="11"/>
          </p:nvPr>
        </p:nvSpPr>
        <p:spPr>
          <a:xfrm>
            <a:off x="762000" y="887717"/>
            <a:ext cx="10667999" cy="759095"/>
          </a:xfrm>
        </p:spPr>
        <p:txBody>
          <a:bodyPr/>
          <a:lstStyle/>
          <a:p>
            <a:r>
              <a:rPr lang="en-US" sz="1800" dirty="0"/>
              <a:t>Ultimately, our solution will give Khupragenics’ with a strong and dependable security framework, increasing consumer trust in the company's capacity to safeguard sensitive information.</a:t>
            </a:r>
          </a:p>
          <a:p>
            <a:endParaRPr lang="en-US" dirty="0"/>
          </a:p>
        </p:txBody>
      </p:sp>
      <p:sp>
        <p:nvSpPr>
          <p:cNvPr id="6" name="TextBox 5">
            <a:extLst>
              <a:ext uri="{FF2B5EF4-FFF2-40B4-BE49-F238E27FC236}">
                <a16:creationId xmlns:a16="http://schemas.microsoft.com/office/drawing/2014/main" id="{F586D7DC-1448-1164-F5DD-163B62C442A5}"/>
              </a:ext>
            </a:extLst>
          </p:cNvPr>
          <p:cNvSpPr txBox="1"/>
          <p:nvPr/>
        </p:nvSpPr>
        <p:spPr>
          <a:xfrm>
            <a:off x="762000" y="1781492"/>
            <a:ext cx="3810000" cy="369332"/>
          </a:xfrm>
          <a:prstGeom prst="rect">
            <a:avLst/>
          </a:prstGeom>
          <a:noFill/>
        </p:spPr>
        <p:txBody>
          <a:bodyPr wrap="square">
            <a:spAutoFit/>
          </a:bodyPr>
          <a:lstStyle/>
          <a:p>
            <a:r>
              <a:rPr lang="en-US" sz="1800" b="1" dirty="0">
                <a:solidFill>
                  <a:schemeClr val="bg1">
                    <a:lumMod val="65000"/>
                    <a:lumOff val="35000"/>
                  </a:schemeClr>
                </a:solidFill>
                <a:latin typeface="+mn-lt"/>
              </a:rPr>
              <a:t>Increased Customer Confidence:</a:t>
            </a:r>
            <a:endParaRPr lang="en-CA" sz="1800" dirty="0">
              <a:solidFill>
                <a:schemeClr val="bg1">
                  <a:lumMod val="65000"/>
                  <a:lumOff val="35000"/>
                </a:schemeClr>
              </a:solidFill>
              <a:latin typeface="+mn-lt"/>
            </a:endParaRPr>
          </a:p>
        </p:txBody>
      </p:sp>
      <p:sp>
        <p:nvSpPr>
          <p:cNvPr id="9" name="TextBox 8">
            <a:extLst>
              <a:ext uri="{FF2B5EF4-FFF2-40B4-BE49-F238E27FC236}">
                <a16:creationId xmlns:a16="http://schemas.microsoft.com/office/drawing/2014/main" id="{04DB2CCD-8FF5-2FDC-421B-89281D4EF692}"/>
              </a:ext>
            </a:extLst>
          </p:cNvPr>
          <p:cNvSpPr txBox="1"/>
          <p:nvPr/>
        </p:nvSpPr>
        <p:spPr>
          <a:xfrm>
            <a:off x="762000" y="3120320"/>
            <a:ext cx="5000171" cy="369332"/>
          </a:xfrm>
          <a:prstGeom prst="rect">
            <a:avLst/>
          </a:prstGeom>
          <a:noFill/>
        </p:spPr>
        <p:txBody>
          <a:bodyPr wrap="square">
            <a:spAutoFit/>
          </a:bodyPr>
          <a:lstStyle/>
          <a:p>
            <a:r>
              <a:rPr lang="en-US" sz="1800" b="1" dirty="0">
                <a:solidFill>
                  <a:schemeClr val="bg1">
                    <a:lumMod val="65000"/>
                    <a:lumOff val="35000"/>
                  </a:schemeClr>
                </a:solidFill>
                <a:latin typeface="+mn-lt"/>
              </a:rPr>
              <a:t>Employee Training and Awareness Programs:</a:t>
            </a:r>
            <a:endParaRPr lang="en-CA" sz="1800" dirty="0">
              <a:solidFill>
                <a:schemeClr val="bg1">
                  <a:lumMod val="65000"/>
                  <a:lumOff val="35000"/>
                </a:schemeClr>
              </a:solidFill>
              <a:latin typeface="+mn-lt"/>
            </a:endParaRPr>
          </a:p>
        </p:txBody>
      </p:sp>
      <p:sp>
        <p:nvSpPr>
          <p:cNvPr id="12" name="TextBox 11">
            <a:extLst>
              <a:ext uri="{FF2B5EF4-FFF2-40B4-BE49-F238E27FC236}">
                <a16:creationId xmlns:a16="http://schemas.microsoft.com/office/drawing/2014/main" id="{24E0B6A9-857B-2DAE-FFDC-49F4A7570614}"/>
              </a:ext>
            </a:extLst>
          </p:cNvPr>
          <p:cNvSpPr txBox="1"/>
          <p:nvPr/>
        </p:nvSpPr>
        <p:spPr>
          <a:xfrm>
            <a:off x="762001" y="4436065"/>
            <a:ext cx="2823029" cy="369332"/>
          </a:xfrm>
          <a:prstGeom prst="rect">
            <a:avLst/>
          </a:prstGeom>
          <a:noFill/>
        </p:spPr>
        <p:txBody>
          <a:bodyPr wrap="square">
            <a:spAutoFit/>
          </a:bodyPr>
          <a:lstStyle/>
          <a:p>
            <a:r>
              <a:rPr lang="en-US" sz="1800" b="1" dirty="0">
                <a:solidFill>
                  <a:schemeClr val="bg1">
                    <a:lumMod val="65000"/>
                    <a:lumOff val="35000"/>
                  </a:schemeClr>
                </a:solidFill>
                <a:latin typeface="+mn-lt"/>
              </a:rPr>
              <a:t>Improved Data Security:</a:t>
            </a:r>
            <a:endParaRPr lang="en-CA" sz="1800" dirty="0">
              <a:solidFill>
                <a:schemeClr val="bg1">
                  <a:lumMod val="65000"/>
                  <a:lumOff val="35000"/>
                </a:schemeClr>
              </a:solidFill>
              <a:latin typeface="+mn-lt"/>
            </a:endParaRPr>
          </a:p>
        </p:txBody>
      </p:sp>
      <p:sp>
        <p:nvSpPr>
          <p:cNvPr id="14" name="TextBox 13">
            <a:extLst>
              <a:ext uri="{FF2B5EF4-FFF2-40B4-BE49-F238E27FC236}">
                <a16:creationId xmlns:a16="http://schemas.microsoft.com/office/drawing/2014/main" id="{8614DA38-D606-CAD2-5A01-19702441D5BA}"/>
              </a:ext>
            </a:extLst>
          </p:cNvPr>
          <p:cNvSpPr txBox="1"/>
          <p:nvPr/>
        </p:nvSpPr>
        <p:spPr>
          <a:xfrm>
            <a:off x="1661885" y="2173907"/>
            <a:ext cx="9768113" cy="923330"/>
          </a:xfrm>
          <a:prstGeom prst="rect">
            <a:avLst/>
          </a:prstGeom>
          <a:noFill/>
        </p:spPr>
        <p:txBody>
          <a:bodyPr wrap="square">
            <a:spAutoFit/>
          </a:bodyPr>
          <a:lstStyle/>
          <a:p>
            <a:r>
              <a:rPr lang="en-US" dirty="0">
                <a:solidFill>
                  <a:schemeClr val="bg1"/>
                </a:solidFill>
                <a:latin typeface="+mn-lt"/>
              </a:rPr>
              <a:t>By creating an effective and sustainable way to improve the security of sensitive information, Khupragenics will be able to boost customer trust in the company's capacity to secure their sensitive data.</a:t>
            </a:r>
          </a:p>
        </p:txBody>
      </p:sp>
      <p:sp>
        <p:nvSpPr>
          <p:cNvPr id="16" name="TextBox 15">
            <a:extLst>
              <a:ext uri="{FF2B5EF4-FFF2-40B4-BE49-F238E27FC236}">
                <a16:creationId xmlns:a16="http://schemas.microsoft.com/office/drawing/2014/main" id="{E74DACC6-FB06-9C5C-0CB2-F19360DCCBF0}"/>
              </a:ext>
            </a:extLst>
          </p:cNvPr>
          <p:cNvSpPr txBox="1"/>
          <p:nvPr/>
        </p:nvSpPr>
        <p:spPr>
          <a:xfrm>
            <a:off x="1661885" y="3489652"/>
            <a:ext cx="9768113" cy="923330"/>
          </a:xfrm>
          <a:prstGeom prst="rect">
            <a:avLst/>
          </a:prstGeom>
          <a:noFill/>
        </p:spPr>
        <p:txBody>
          <a:bodyPr wrap="square">
            <a:spAutoFit/>
          </a:bodyPr>
          <a:lstStyle/>
          <a:p>
            <a:r>
              <a:rPr lang="en-US" dirty="0">
                <a:solidFill>
                  <a:schemeClr val="bg1"/>
                </a:solidFill>
                <a:latin typeface="+mn-lt"/>
              </a:rPr>
              <a:t>The implementation of employee training and awareness programs will guarantee that all workers are equipped with the knowledge and skills necessary to handle sensitive information responsibly.</a:t>
            </a:r>
          </a:p>
        </p:txBody>
      </p:sp>
      <p:sp>
        <p:nvSpPr>
          <p:cNvPr id="18" name="TextBox 17">
            <a:extLst>
              <a:ext uri="{FF2B5EF4-FFF2-40B4-BE49-F238E27FC236}">
                <a16:creationId xmlns:a16="http://schemas.microsoft.com/office/drawing/2014/main" id="{3A004ECC-F461-81C6-B689-AC92F66FD2E7}"/>
              </a:ext>
            </a:extLst>
          </p:cNvPr>
          <p:cNvSpPr txBox="1"/>
          <p:nvPr/>
        </p:nvSpPr>
        <p:spPr>
          <a:xfrm>
            <a:off x="1661885" y="4759230"/>
            <a:ext cx="9691915" cy="923330"/>
          </a:xfrm>
          <a:prstGeom prst="rect">
            <a:avLst/>
          </a:prstGeom>
          <a:noFill/>
        </p:spPr>
        <p:txBody>
          <a:bodyPr wrap="square">
            <a:spAutoFit/>
          </a:bodyPr>
          <a:lstStyle/>
          <a:p>
            <a:r>
              <a:rPr lang="en-US" dirty="0">
                <a:solidFill>
                  <a:schemeClr val="bg1"/>
                </a:solidFill>
                <a:latin typeface="+mn-lt"/>
              </a:rPr>
              <a:t>implementing better data protection measures and conducting frequent reviews of the company's systems and procedures, data security will be improved, and the danger of data breaches will be reduced.</a:t>
            </a:r>
            <a:endParaRPr lang="en-CA" dirty="0">
              <a:solidFill>
                <a:schemeClr val="bg1"/>
              </a:solidFill>
              <a:latin typeface="+mn-lt"/>
            </a:endParaRPr>
          </a:p>
        </p:txBody>
      </p:sp>
    </p:spTree>
    <p:extLst>
      <p:ext uri="{BB962C8B-B14F-4D97-AF65-F5344CB8AC3E}">
        <p14:creationId xmlns:p14="http://schemas.microsoft.com/office/powerpoint/2010/main" val="1470979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43D7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C9F4C-CDB9-6CDE-B868-771F2F73A97B}"/>
              </a:ext>
            </a:extLst>
          </p:cNvPr>
          <p:cNvSpPr>
            <a:spLocks noGrp="1"/>
          </p:cNvSpPr>
          <p:nvPr>
            <p:ph type="title"/>
          </p:nvPr>
        </p:nvSpPr>
        <p:spPr>
          <a:xfrm>
            <a:off x="1525301" y="253753"/>
            <a:ext cx="9141397" cy="615553"/>
          </a:xfrm>
        </p:spPr>
        <p:txBody>
          <a:bodyPr/>
          <a:lstStyle/>
          <a:p>
            <a:r>
              <a:rPr lang="en-US" dirty="0"/>
              <a:t>Effective Project Solution</a:t>
            </a:r>
          </a:p>
        </p:txBody>
      </p:sp>
      <p:pic>
        <p:nvPicPr>
          <p:cNvPr id="4" name="Picture 3" descr="Diagram&#10;&#10;Description automatically generated">
            <a:extLst>
              <a:ext uri="{FF2B5EF4-FFF2-40B4-BE49-F238E27FC236}">
                <a16:creationId xmlns:a16="http://schemas.microsoft.com/office/drawing/2014/main" id="{725DD5E0-9E21-EBDC-5F56-F2A210D43055}"/>
              </a:ext>
            </a:extLst>
          </p:cNvPr>
          <p:cNvPicPr>
            <a:picLocks noChangeAspect="1"/>
          </p:cNvPicPr>
          <p:nvPr/>
        </p:nvPicPr>
        <p:blipFill>
          <a:blip r:embed="rId2"/>
          <a:stretch>
            <a:fillRect/>
          </a:stretch>
        </p:blipFill>
        <p:spPr>
          <a:xfrm>
            <a:off x="379772" y="1277584"/>
            <a:ext cx="11432454" cy="505941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21320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8B51BF-780C-45D4-A1D0-32D55EA0F2B4}"/>
              </a:ext>
            </a:extLst>
          </p:cNvPr>
          <p:cNvSpPr>
            <a:spLocks noGrp="1"/>
          </p:cNvSpPr>
          <p:nvPr>
            <p:ph type="title"/>
          </p:nvPr>
        </p:nvSpPr>
        <p:spPr>
          <a:xfrm>
            <a:off x="1525301" y="3121223"/>
            <a:ext cx="9141397" cy="615553"/>
          </a:xfrm>
        </p:spPr>
        <p:txBody>
          <a:bodyPr/>
          <a:lstStyle/>
          <a:p>
            <a:r>
              <a:rPr lang="en-US" dirty="0"/>
              <a:t>Project Demonstration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02AD8E-4C7C-4A1B-89B1-9A0997F4F30E}"/>
              </a:ext>
            </a:extLst>
          </p:cNvPr>
          <p:cNvSpPr>
            <a:spLocks noGrp="1"/>
          </p:cNvSpPr>
          <p:nvPr>
            <p:ph type="title"/>
          </p:nvPr>
        </p:nvSpPr>
        <p:spPr/>
        <p:txBody>
          <a:bodyPr/>
          <a:lstStyle/>
          <a:p>
            <a:r>
              <a:rPr lang="en-US" dirty="0">
                <a:solidFill>
                  <a:schemeClr val="bg1">
                    <a:lumMod val="75000"/>
                    <a:lumOff val="25000"/>
                  </a:schemeClr>
                </a:solidFill>
              </a:rPr>
              <a:t>Bibliography</a:t>
            </a:r>
          </a:p>
        </p:txBody>
      </p:sp>
      <p:sp>
        <p:nvSpPr>
          <p:cNvPr id="2" name="Text Placeholder 1">
            <a:extLst>
              <a:ext uri="{FF2B5EF4-FFF2-40B4-BE49-F238E27FC236}">
                <a16:creationId xmlns:a16="http://schemas.microsoft.com/office/drawing/2014/main" id="{25A8ACB1-6D36-496B-91DD-D1C3128C1C73}"/>
              </a:ext>
            </a:extLst>
          </p:cNvPr>
          <p:cNvSpPr>
            <a:spLocks noGrp="1"/>
          </p:cNvSpPr>
          <p:nvPr>
            <p:ph type="body" sz="quarter" idx="11"/>
          </p:nvPr>
        </p:nvSpPr>
        <p:spPr>
          <a:xfrm>
            <a:off x="5199743" y="1904999"/>
            <a:ext cx="6477000" cy="4016829"/>
          </a:xfrm>
        </p:spPr>
        <p:txBody>
          <a:bodyPr/>
          <a:lstStyle/>
          <a:p>
            <a:pPr marL="342900" indent="-342900">
              <a:lnSpc>
                <a:spcPct val="110000"/>
              </a:lnSpc>
              <a:buFont typeface="Wingdings" panose="05000000000000000000" pitchFamily="2" charset="2"/>
              <a:buChar char="§"/>
            </a:pPr>
            <a:r>
              <a:rPr lang="en-CA" sz="1600" dirty="0">
                <a:effectLst/>
                <a:latin typeface="+mj-lt"/>
              </a:rPr>
              <a:t>Seh, A. H., Zarour, M., Alenezi, M., Sarkar, A. K., Agrawal, A., Kumar, R., &amp; Ahmad Khan, R. (2020, May 13). </a:t>
            </a:r>
            <a:r>
              <a:rPr lang="en-CA" sz="1600" i="1" dirty="0">
                <a:effectLst/>
                <a:latin typeface="+mj-lt"/>
              </a:rPr>
              <a:t>Healthcare data breaches: Insights and implications</a:t>
            </a:r>
            <a:r>
              <a:rPr lang="en-CA" sz="1600" dirty="0">
                <a:effectLst/>
                <a:latin typeface="+mj-lt"/>
              </a:rPr>
              <a:t>. MDPI. Retrieved February 27, 2023, from 	</a:t>
            </a:r>
          </a:p>
          <a:p>
            <a:pPr marL="914400" lvl="2" indent="0">
              <a:lnSpc>
                <a:spcPct val="110000"/>
              </a:lnSpc>
              <a:buNone/>
            </a:pPr>
            <a:r>
              <a:rPr lang="en-CA" sz="1400" dirty="0">
                <a:solidFill>
                  <a:srgbClr val="0070C0"/>
                </a:solidFill>
                <a:effectLst/>
                <a:hlinkClick r:id="rId2">
                  <a:extLst>
                    <a:ext uri="{A12FA001-AC4F-418D-AE19-62706E023703}">
                      <ahyp:hlinkClr xmlns:ahyp="http://schemas.microsoft.com/office/drawing/2018/hyperlinkcolor" val="tx"/>
                    </a:ext>
                  </a:extLst>
                </a:hlinkClick>
              </a:rPr>
              <a:t>https://www.mdpi.com/715382 </a:t>
            </a:r>
            <a:r>
              <a:rPr lang="en-CA" sz="1400" dirty="0">
                <a:solidFill>
                  <a:srgbClr val="0070C0"/>
                </a:solidFill>
                <a:effectLst/>
              </a:rPr>
              <a:t>.</a:t>
            </a:r>
            <a:endParaRPr lang="en-US" sz="1400" dirty="0">
              <a:solidFill>
                <a:srgbClr val="0070C0"/>
              </a:solidFill>
            </a:endParaRPr>
          </a:p>
          <a:p>
            <a:pPr marL="342900" indent="-342900">
              <a:lnSpc>
                <a:spcPct val="110000"/>
              </a:lnSpc>
              <a:buFont typeface="Wingdings" panose="05000000000000000000" pitchFamily="2" charset="2"/>
              <a:buChar char="§"/>
            </a:pPr>
            <a:r>
              <a:rPr lang="en-US" sz="1600" dirty="0">
                <a:latin typeface="+mj-lt"/>
              </a:rPr>
              <a:t>VENKATESH, L. (2021, June 23). AWS Series: Reference Architecture #1 — Web Application Type 1. Nerd for Tech.</a:t>
            </a:r>
            <a:r>
              <a:rPr lang="en-US" sz="1600" dirty="0">
                <a:solidFill>
                  <a:schemeClr val="tx1"/>
                </a:solidFill>
                <a:latin typeface="+mj-lt"/>
                <a:hlinkClick r:id="rId3">
                  <a:extLst>
                    <a:ext uri="{A12FA001-AC4F-418D-AE19-62706E023703}">
                      <ahyp:hlinkClr xmlns:ahyp="http://schemas.microsoft.com/office/drawing/2018/hyperlinkcolor" val="tx"/>
                    </a:ext>
                  </a:extLst>
                </a:hlinkClick>
              </a:rPr>
              <a:t>/</a:t>
            </a:r>
          </a:p>
          <a:p>
            <a:pPr marL="914400" lvl="2" indent="0">
              <a:lnSpc>
                <a:spcPct val="110000"/>
              </a:lnSpc>
              <a:buNone/>
            </a:pPr>
            <a:r>
              <a:rPr lang="en-US" sz="1400" dirty="0">
                <a:solidFill>
                  <a:srgbClr val="0070C0"/>
                </a:solidFill>
                <a:hlinkClick r:id="rId3">
                  <a:extLst>
                    <a:ext uri="{A12FA001-AC4F-418D-AE19-62706E023703}">
                      <ahyp:hlinkClr xmlns:ahyp="http://schemas.microsoft.com/office/drawing/2018/hyperlinkcolor" val="tx"/>
                    </a:ext>
                  </a:extLst>
                </a:hlinkClick>
              </a:rPr>
              <a:t>aws-series-reference-architecture-1-web-application-type-1-2817c8dc09b </a:t>
            </a:r>
            <a:r>
              <a:rPr lang="en-US" sz="1400" dirty="0">
                <a:solidFill>
                  <a:srgbClr val="0070C0"/>
                </a:solidFill>
              </a:rPr>
              <a:t>.</a:t>
            </a:r>
          </a:p>
          <a:p>
            <a:pPr marL="342900" indent="-342900">
              <a:buFont typeface="Wingdings" panose="05000000000000000000" pitchFamily="2" charset="2"/>
              <a:buChar char="§"/>
            </a:pPr>
            <a:r>
              <a:rPr lang="en-US" sz="1600" dirty="0">
                <a:latin typeface="+mj-lt"/>
              </a:rPr>
              <a:t>Good practices in community engagement and readiness - NRCAN. (n.d.). Retrieved March 19, 2023, from</a:t>
            </a:r>
          </a:p>
          <a:p>
            <a:pPr marL="914400" lvl="2" indent="0">
              <a:lnSpc>
                <a:spcPct val="110000"/>
              </a:lnSpc>
              <a:buNone/>
            </a:pPr>
            <a:r>
              <a:rPr lang="en-US" sz="1400" dirty="0">
                <a:solidFill>
                  <a:srgbClr val="0070C0"/>
                </a:solidFill>
                <a:hlinkClick r:id="rId4">
                  <a:extLst>
                    <a:ext uri="{A12FA001-AC4F-418D-AE19-62706E023703}">
                      <ahyp:hlinkClr xmlns:ahyp="http://schemas.microsoft.com/office/drawing/2018/hyperlinkcolor" val="tx"/>
                    </a:ext>
                  </a:extLst>
                </a:hlinkClick>
              </a:rPr>
              <a:t>https://naturalresources.canada.ca/sites/www.nrcan.gc.ca/files/mineralsmetals/files/pdf/rmd-rrm/GoodPractices2ed_En.pdf</a:t>
            </a:r>
            <a:endParaRPr lang="en-US" sz="1400" dirty="0">
              <a:solidFill>
                <a:srgbClr val="0070C0"/>
              </a:solidFill>
            </a:endParaRPr>
          </a:p>
          <a:p>
            <a:pPr marL="914400" lvl="2" indent="0">
              <a:lnSpc>
                <a:spcPct val="110000"/>
              </a:lnSpc>
              <a:buNone/>
            </a:pPr>
            <a:endParaRPr lang="en-US" sz="1400" dirty="0">
              <a:solidFill>
                <a:schemeClr val="accent6">
                  <a:lumMod val="60000"/>
                  <a:lumOff val="40000"/>
                </a:schemeClr>
              </a:solidFill>
              <a:latin typeface="+mj-lt"/>
            </a:endParaRPr>
          </a:p>
          <a:p>
            <a:endParaRPr lang="en-US" dirty="0"/>
          </a:p>
        </p:txBody>
      </p:sp>
    </p:spTree>
    <p:extLst>
      <p:ext uri="{BB962C8B-B14F-4D97-AF65-F5344CB8AC3E}">
        <p14:creationId xmlns:p14="http://schemas.microsoft.com/office/powerpoint/2010/main" val="1430663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02AD8E-4C7C-4A1B-89B1-9A0997F4F30E}"/>
              </a:ext>
            </a:extLst>
          </p:cNvPr>
          <p:cNvSpPr>
            <a:spLocks noGrp="1"/>
          </p:cNvSpPr>
          <p:nvPr>
            <p:ph type="title"/>
          </p:nvPr>
        </p:nvSpPr>
        <p:spPr/>
        <p:txBody>
          <a:bodyPr/>
          <a:lstStyle/>
          <a:p>
            <a:r>
              <a:rPr lang="en-US" dirty="0">
                <a:solidFill>
                  <a:schemeClr val="bg1">
                    <a:lumMod val="75000"/>
                    <a:lumOff val="25000"/>
                  </a:schemeClr>
                </a:solidFill>
              </a:rPr>
              <a:t>Bibliography</a:t>
            </a:r>
          </a:p>
        </p:txBody>
      </p:sp>
      <p:sp>
        <p:nvSpPr>
          <p:cNvPr id="2" name="Text Placeholder 1">
            <a:extLst>
              <a:ext uri="{FF2B5EF4-FFF2-40B4-BE49-F238E27FC236}">
                <a16:creationId xmlns:a16="http://schemas.microsoft.com/office/drawing/2014/main" id="{25A8ACB1-6D36-496B-91DD-D1C3128C1C73}"/>
              </a:ext>
            </a:extLst>
          </p:cNvPr>
          <p:cNvSpPr>
            <a:spLocks noGrp="1"/>
          </p:cNvSpPr>
          <p:nvPr>
            <p:ph type="body" sz="quarter" idx="11"/>
          </p:nvPr>
        </p:nvSpPr>
        <p:spPr>
          <a:xfrm>
            <a:off x="5199743" y="1904999"/>
            <a:ext cx="6477000" cy="4829629"/>
          </a:xfrm>
        </p:spPr>
        <p:txBody>
          <a:bodyPr/>
          <a:lstStyle/>
          <a:p>
            <a:pPr marL="342900" indent="-342900">
              <a:lnSpc>
                <a:spcPct val="110000"/>
              </a:lnSpc>
              <a:buFont typeface="Wingdings" panose="05000000000000000000" pitchFamily="2" charset="2"/>
              <a:buChar char="§"/>
            </a:pPr>
            <a:r>
              <a:rPr lang="en-US" sz="1600" dirty="0">
                <a:latin typeface="+mj-lt"/>
              </a:rPr>
              <a:t>Guidelines for media sanitization - NIST. (n.d.). From</a:t>
            </a:r>
          </a:p>
          <a:p>
            <a:pPr marL="914400" lvl="2" indent="0">
              <a:lnSpc>
                <a:spcPct val="110000"/>
              </a:lnSpc>
              <a:buNone/>
            </a:pPr>
            <a:r>
              <a:rPr lang="en-US" sz="1400" dirty="0">
                <a:solidFill>
                  <a:srgbClr val="0070C0"/>
                </a:solidFill>
                <a:hlinkClick r:id="rId2">
                  <a:extLst>
                    <a:ext uri="{A12FA001-AC4F-418D-AE19-62706E023703}">
                      <ahyp:hlinkClr xmlns:ahyp="http://schemas.microsoft.com/office/drawing/2018/hyperlinkcolor" val="tx"/>
                    </a:ext>
                  </a:extLst>
                </a:hlinkClick>
              </a:rPr>
              <a:t>https://nvlpubs.nist.gov/nistpubs/SpecialPublications/NIST.SP.800-88r1.pdf</a:t>
            </a:r>
            <a:endParaRPr lang="en-US" sz="1400" dirty="0">
              <a:solidFill>
                <a:srgbClr val="0070C0"/>
              </a:solidFill>
            </a:endParaRPr>
          </a:p>
          <a:p>
            <a:pPr marL="342900" indent="-342900">
              <a:buFont typeface="Wingdings" panose="05000000000000000000" pitchFamily="2" charset="2"/>
              <a:buChar char="§"/>
            </a:pPr>
            <a:r>
              <a:rPr lang="en-US" sz="1600" dirty="0">
                <a:latin typeface="+mj-lt"/>
              </a:rPr>
              <a:t>Patient access information for individuals: Get it, check it, use it! HealthIT.gov. (2020, January 31). Retrieved March 20, 2023, from How will the MSS organization tailor the security plan to the customer's specific needs.</a:t>
            </a:r>
          </a:p>
          <a:p>
            <a:pPr marL="914400" lvl="2" indent="0">
              <a:lnSpc>
                <a:spcPct val="110000"/>
              </a:lnSpc>
              <a:buNone/>
            </a:pPr>
            <a:r>
              <a:rPr lang="en-US" sz="1400" dirty="0">
                <a:solidFill>
                  <a:srgbClr val="0070C0"/>
                </a:solidFill>
                <a:hlinkClick r:id="rId3">
                  <a:extLst>
                    <a:ext uri="{A12FA001-AC4F-418D-AE19-62706E023703}">
                      <ahyp:hlinkClr xmlns:ahyp="http://schemas.microsoft.com/office/drawing/2018/hyperlinkcolor" val="tx"/>
                    </a:ext>
                  </a:extLst>
                </a:hlinkClick>
              </a:rPr>
              <a:t>https://www.healthit.gov/topic/patient-access-information-individuals-get-it-check-it-use-it</a:t>
            </a:r>
            <a:endParaRPr lang="en-US" sz="1400" dirty="0">
              <a:solidFill>
                <a:srgbClr val="0070C0"/>
              </a:solidFill>
            </a:endParaRPr>
          </a:p>
          <a:p>
            <a:pPr marL="342900" indent="-342900">
              <a:buFont typeface="Wingdings" panose="05000000000000000000" pitchFamily="2" charset="2"/>
              <a:buChar char="§"/>
            </a:pPr>
            <a:r>
              <a:rPr lang="en-US" sz="1600" dirty="0">
                <a:latin typeface="+mj-lt"/>
              </a:rPr>
              <a:t>In-depth guide to Managed Security Services in 2023.AIMultiple. (n.d.). Retrieved March 20, 2023, from</a:t>
            </a:r>
          </a:p>
          <a:p>
            <a:pPr marL="914400" lvl="2" indent="0">
              <a:lnSpc>
                <a:spcPct val="110000"/>
              </a:lnSpc>
              <a:buNone/>
            </a:pPr>
            <a:r>
              <a:rPr lang="en-US" sz="1400" dirty="0">
                <a:solidFill>
                  <a:srgbClr val="0070C0"/>
                </a:solidFill>
                <a:hlinkClick r:id="rId4">
                  <a:extLst>
                    <a:ext uri="{A12FA001-AC4F-418D-AE19-62706E023703}">
                      <ahyp:hlinkClr xmlns:ahyp="http://schemas.microsoft.com/office/drawing/2018/hyperlinkcolor" val="tx"/>
                    </a:ext>
                  </a:extLst>
                </a:hlinkClick>
              </a:rPr>
              <a:t>https://research.aimultiple.com/managed-security-services/</a:t>
            </a:r>
            <a:endParaRPr lang="en-US" sz="1400" dirty="0">
              <a:solidFill>
                <a:srgbClr val="0070C0"/>
              </a:solidFill>
            </a:endParaRPr>
          </a:p>
          <a:p>
            <a:pPr marL="342900" indent="-342900">
              <a:buFont typeface="Wingdings" panose="05000000000000000000" pitchFamily="2" charset="2"/>
              <a:buChar char="§"/>
            </a:pPr>
            <a:r>
              <a:rPr lang="en-US" sz="1600" dirty="0">
                <a:latin typeface="+mj-lt"/>
              </a:rPr>
              <a:t>Chapter 3-Security Policy: Development and implementation, from safeguarding your technology, NCES publication 98-297 (National Center for Education Statistics). (n.d.). Retrieved March 20, 2023, from </a:t>
            </a:r>
          </a:p>
          <a:p>
            <a:pPr marL="914400" lvl="2" indent="0">
              <a:lnSpc>
                <a:spcPct val="110000"/>
              </a:lnSpc>
              <a:buNone/>
            </a:pPr>
            <a:r>
              <a:rPr lang="en-US" sz="1400" dirty="0">
                <a:solidFill>
                  <a:srgbClr val="0070C0"/>
                </a:solidFill>
                <a:hlinkClick r:id="rId5">
                  <a:extLst>
                    <a:ext uri="{A12FA001-AC4F-418D-AE19-62706E023703}">
                      <ahyp:hlinkClr xmlns:ahyp="http://schemas.microsoft.com/office/drawing/2018/hyperlinkcolor" val="tx"/>
                    </a:ext>
                  </a:extLst>
                </a:hlinkClick>
              </a:rPr>
              <a:t>https://nces.ed.gov/pubs98/safetech/chapter3.asp</a:t>
            </a:r>
            <a:endParaRPr lang="en-US" sz="1400" dirty="0">
              <a:solidFill>
                <a:srgbClr val="0070C0"/>
              </a:solidFill>
            </a:endParaRPr>
          </a:p>
          <a:p>
            <a:endParaRPr lang="en-US" sz="1400" dirty="0"/>
          </a:p>
        </p:txBody>
      </p:sp>
    </p:spTree>
    <p:extLst>
      <p:ext uri="{BB962C8B-B14F-4D97-AF65-F5344CB8AC3E}">
        <p14:creationId xmlns:p14="http://schemas.microsoft.com/office/powerpoint/2010/main" val="407659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a:xfrm>
            <a:off x="3429000" y="2428081"/>
            <a:ext cx="5334000" cy="881176"/>
          </a:xfrm>
        </p:spPr>
        <p:txBody>
          <a:bodyPr>
            <a:noAutofit/>
          </a:bodyPr>
          <a:lstStyle/>
          <a:p>
            <a:pPr algn="ctr"/>
            <a:r>
              <a:rPr lang="en-US" sz="6000" spc="-50" dirty="0">
                <a:ln w="3175">
                  <a:noFill/>
                </a:ln>
                <a:solidFill>
                  <a:schemeClr val="bg1">
                    <a:lumMod val="75000"/>
                    <a:lumOff val="25000"/>
                  </a:schemeClr>
                </a:solidFill>
                <a:ea typeface="+mn-ea"/>
                <a:cs typeface="Segoe UI" pitchFamily="34" charset="0"/>
              </a:rPr>
              <a:t>Thank You</a:t>
            </a:r>
          </a:p>
        </p:txBody>
      </p:sp>
      <p:sp>
        <p:nvSpPr>
          <p:cNvPr id="3" name="Text Placeholder 2">
            <a:extLst>
              <a:ext uri="{FF2B5EF4-FFF2-40B4-BE49-F238E27FC236}">
                <a16:creationId xmlns:a16="http://schemas.microsoft.com/office/drawing/2014/main" id="{17155E1D-F4AD-41A7-B948-E2D246CCFE8A}"/>
              </a:ext>
            </a:extLst>
          </p:cNvPr>
          <p:cNvSpPr>
            <a:spLocks noGrp="1"/>
          </p:cNvSpPr>
          <p:nvPr>
            <p:ph type="body" sz="quarter" idx="11"/>
          </p:nvPr>
        </p:nvSpPr>
        <p:spPr/>
        <p:txBody>
          <a:bodyPr vert="horz" wrap="square" lIns="0" tIns="0" rIns="0" bIns="0" rtlCol="0" anchor="t">
            <a:noAutofit/>
          </a:bodyPr>
          <a:lstStyle/>
          <a:p>
            <a:endParaRPr lang="en-US" dirty="0"/>
          </a:p>
          <a:p>
            <a:endParaRPr lang="en-US" dirty="0"/>
          </a:p>
        </p:txBody>
      </p:sp>
    </p:spTree>
    <p:extLst>
      <p:ext uri="{BB962C8B-B14F-4D97-AF65-F5344CB8AC3E}">
        <p14:creationId xmlns:p14="http://schemas.microsoft.com/office/powerpoint/2010/main" val="4244761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8DF32A-D165-40DA-AAE8-A6E9579E2F79}"/>
              </a:ext>
            </a:extLst>
          </p:cNvPr>
          <p:cNvSpPr>
            <a:spLocks noGrp="1"/>
          </p:cNvSpPr>
          <p:nvPr>
            <p:ph type="title"/>
          </p:nvPr>
        </p:nvSpPr>
        <p:spPr>
          <a:xfrm>
            <a:off x="1525301" y="2497108"/>
            <a:ext cx="9141397" cy="615553"/>
          </a:xfrm>
        </p:spPr>
        <p:txBody>
          <a:bodyPr/>
          <a:lstStyle/>
          <a:p>
            <a:r>
              <a:rPr lang="en-US" dirty="0">
                <a:solidFill>
                  <a:schemeClr val="bg1">
                    <a:lumMod val="75000"/>
                    <a:lumOff val="25000"/>
                  </a:schemeClr>
                </a:solidFill>
              </a:rPr>
              <a:t>Questions</a:t>
            </a:r>
            <a:r>
              <a:rPr lang="en-US" dirty="0"/>
              <a:t> &amp; </a:t>
            </a:r>
            <a:r>
              <a:rPr lang="en-US" dirty="0">
                <a:solidFill>
                  <a:schemeClr val="bg1">
                    <a:lumMod val="75000"/>
                    <a:lumOff val="25000"/>
                  </a:schemeClr>
                </a:solidFill>
              </a:rPr>
              <a:t>Answers</a:t>
            </a:r>
          </a:p>
        </p:txBody>
      </p:sp>
    </p:spTree>
    <p:extLst>
      <p:ext uri="{BB962C8B-B14F-4D97-AF65-F5344CB8AC3E}">
        <p14:creationId xmlns:p14="http://schemas.microsoft.com/office/powerpoint/2010/main" val="57671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17">
      <a:dk1>
        <a:sysClr val="windowText" lastClr="000000"/>
      </a:dk1>
      <a:lt1>
        <a:sysClr val="window" lastClr="FFFFFF"/>
      </a:lt1>
      <a:dk2>
        <a:srgbClr val="44546A"/>
      </a:dk2>
      <a:lt2>
        <a:srgbClr val="E7E6E6"/>
      </a:lt2>
      <a:accent1>
        <a:srgbClr val="E23042"/>
      </a:accent1>
      <a:accent2>
        <a:srgbClr val="3578AF"/>
      </a:accent2>
      <a:accent3>
        <a:srgbClr val="C4C4C4"/>
      </a:accent3>
      <a:accent4>
        <a:srgbClr val="A80B22"/>
      </a:accent4>
      <a:accent5>
        <a:srgbClr val="E2E2E2"/>
      </a:accent5>
      <a:accent6>
        <a:srgbClr val="2A6187"/>
      </a:accent6>
      <a:hlink>
        <a:srgbClr val="0563C1"/>
      </a:hlink>
      <a:folHlink>
        <a:srgbClr val="954F72"/>
      </a:folHlink>
    </a:clrScheme>
    <a:fontScheme name="Custom 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ewish American Heritage Month_Win32_JC_SL_v3" id="{5A91364D-DD38-4994-BB9C-41D074FD197A}" vid="{8577DF34-D72C-48EB-902A-0A54C766E05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D4EE2DFF-920A-42C9-AEE0-3A0BF6AF46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15C1F8C-D27A-4CE7-9DF4-4AFDB2880FA9}">
  <ds:schemaRefs>
    <ds:schemaRef ds:uri="http://schemas.microsoft.com/sharepoint/v3/contenttype/forms"/>
  </ds:schemaRefs>
</ds:datastoreItem>
</file>

<file path=customXml/itemProps3.xml><?xml version="1.0" encoding="utf-8"?>
<ds:datastoreItem xmlns:ds="http://schemas.openxmlformats.org/officeDocument/2006/customXml" ds:itemID="{FDF283A3-AA81-4663-8764-64F64C723FD1}">
  <ds:schemaRefs>
    <ds:schemaRef ds:uri="http://www.w3.org/XML/1998/namespace"/>
    <ds:schemaRef ds:uri="http://schemas.openxmlformats.org/package/2006/metadata/core-properties"/>
    <ds:schemaRef ds:uri="http://schemas.microsoft.com/sharepoint/v3"/>
    <ds:schemaRef ds:uri="http://purl.org/dc/dcmitype/"/>
    <ds:schemaRef ds:uri="71af3243-3dd4-4a8d-8c0d-dd76da1f02a5"/>
    <ds:schemaRef ds:uri="16c05727-aa75-4e4a-9b5f-8a80a1165891"/>
    <ds:schemaRef ds:uri="http://schemas.microsoft.com/office/infopath/2007/PartnerControls"/>
    <ds:schemaRef ds:uri="http://purl.org/dc/elements/1.1/"/>
    <ds:schemaRef ds:uri="http://purl.org/dc/terms/"/>
    <ds:schemaRef ds:uri="http://schemas.microsoft.com/office/2006/documentManagement/types"/>
    <ds:schemaRef ds:uri="230e9df3-be65-4c73-a93b-d1236ebd677e"/>
    <ds:schemaRef ds:uri="http://schemas.microsoft.com/office/2006/metadata/properties"/>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Jewish American Heritage Month presentation</Template>
  <TotalTime>168</TotalTime>
  <Words>719</Words>
  <Application>Microsoft Office PowerPoint</Application>
  <PresentationFormat>Widescreen</PresentationFormat>
  <Paragraphs>55</Paragraphs>
  <Slides>13</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Segoe UI</vt:lpstr>
      <vt:lpstr>Wingdings</vt:lpstr>
      <vt:lpstr>Office Theme</vt:lpstr>
      <vt:lpstr>Cloud Based Managed Security Service</vt:lpstr>
      <vt:lpstr>Meet our team</vt:lpstr>
      <vt:lpstr>Agenda</vt:lpstr>
      <vt:lpstr>Project Background</vt:lpstr>
      <vt:lpstr>DATA BREACHES</vt:lpstr>
      <vt:lpstr>Project objective </vt:lpstr>
      <vt:lpstr>The Business Benefits of our Project</vt:lpstr>
      <vt:lpstr>Effective Project Solution</vt:lpstr>
      <vt:lpstr>Project Demonstration</vt:lpstr>
      <vt:lpstr>Bibliography</vt:lpstr>
      <vt:lpstr>Bibliography</vt:lpstr>
      <vt:lpstr>Thank You</vt:lpstr>
      <vt:lpstr>Questions &amp; Answers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Based Managed Security Service</dc:title>
  <dc:subject/>
  <dc:creator>Nikhil Dobariya</dc:creator>
  <cp:keywords/>
  <dc:description/>
  <cp:lastModifiedBy>Parth Patel</cp:lastModifiedBy>
  <cp:revision>8</cp:revision>
  <dcterms:created xsi:type="dcterms:W3CDTF">2023-04-13T18:07:25Z</dcterms:created>
  <dcterms:modified xsi:type="dcterms:W3CDTF">2023-07-19T17:06:49Z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